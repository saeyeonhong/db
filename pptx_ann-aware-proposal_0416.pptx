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" name="Shape 2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xfrm>
            <a:off x="6294581" y="4643112"/>
            <a:ext cx="258621" cy="248302"/>
          </a:xfrm>
          <a:prstGeom prst="rect">
            <a:avLst/>
          </a:prstGeom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41797" y="149789"/>
            <a:ext cx="7547700" cy="61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40372" y="1212927"/>
            <a:ext cx="7548903" cy="3263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600928" y="4675506"/>
            <a:ext cx="208388" cy="191812"/>
          </a:xfrm>
          <a:prstGeom prst="rect">
            <a:avLst/>
          </a:prstGeom>
          <a:ln w="12700">
            <a:miter lim="400000"/>
          </a:ln>
        </p:spPr>
        <p:txBody>
          <a:bodyPr wrap="none" lIns="34275" tIns="34275" rIns="34275" bIns="34275" anchor="ctr">
            <a:normAutofit fontScale="100000" lnSpcReduction="0"/>
          </a:bodyPr>
          <a:lstStyle>
            <a:lvl1pPr algn="r">
              <a:defRPr sz="900">
                <a:solidFill>
                  <a:srgbClr val="8C8E9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457200" marR="0" indent="-361950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>
          <a:srgbClr val="171616"/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rgbClr val="171616"/>
          </a:solidFill>
          <a:uFillTx/>
          <a:latin typeface="Arial"/>
          <a:ea typeface="Arial"/>
          <a:cs typeface="Arial"/>
          <a:sym typeface="Arial"/>
        </a:defRPr>
      </a:lvl1pPr>
      <a:lvl2pPr marL="1012369" marR="0" indent="-440871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>
          <a:srgbClr val="171616"/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rgbClr val="171616"/>
          </a:solidFill>
          <a:uFillTx/>
          <a:latin typeface="Arial"/>
          <a:ea typeface="Arial"/>
          <a:cs typeface="Arial"/>
          <a:sym typeface="Arial"/>
        </a:defRPr>
      </a:lvl2pPr>
      <a:lvl3pPr marL="1464127" marR="0" indent="-416377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>
          <a:srgbClr val="171616"/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rgbClr val="171616"/>
          </a:solidFill>
          <a:uFillTx/>
          <a:latin typeface="Arial"/>
          <a:ea typeface="Arial"/>
          <a:cs typeface="Arial"/>
          <a:sym typeface="Arial"/>
        </a:defRPr>
      </a:lvl3pPr>
      <a:lvl4pPr marL="1919514" marR="0" indent="-408214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>
          <a:srgbClr val="171616"/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rgbClr val="171616"/>
          </a:solidFill>
          <a:uFillTx/>
          <a:latin typeface="Arial"/>
          <a:ea typeface="Arial"/>
          <a:cs typeface="Arial"/>
          <a:sym typeface="Arial"/>
        </a:defRPr>
      </a:lvl4pPr>
      <a:lvl5pPr marL="2376714" marR="0" indent="-408214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>
          <a:srgbClr val="171616"/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rgbClr val="171616"/>
          </a:solidFill>
          <a:uFillTx/>
          <a:latin typeface="Arial"/>
          <a:ea typeface="Arial"/>
          <a:cs typeface="Arial"/>
          <a:sym typeface="Arial"/>
        </a:defRPr>
      </a:lvl5pPr>
      <a:lvl6pPr marL="2491738" marR="0" indent="-205738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>
          <a:srgbClr val="171616"/>
        </a:buClr>
        <a:buSzPct val="100000"/>
        <a:buFont typeface="Arial"/>
        <a:buChar char="•"/>
        <a:tabLst/>
        <a:defRPr b="0" baseline="0" cap="none" i="0" spc="0" strike="noStrike" sz="1800" u="none">
          <a:solidFill>
            <a:srgbClr val="171616"/>
          </a:solidFill>
          <a:uFillTx/>
          <a:latin typeface="Arial"/>
          <a:ea typeface="Arial"/>
          <a:cs typeface="Arial"/>
          <a:sym typeface="Arial"/>
        </a:defRPr>
      </a:lvl6pPr>
      <a:lvl7pPr marL="2948938" marR="0" indent="-205738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>
          <a:srgbClr val="171616"/>
        </a:buClr>
        <a:buSzPct val="100000"/>
        <a:buFont typeface="Arial"/>
        <a:buChar char="•"/>
        <a:tabLst/>
        <a:defRPr b="0" baseline="0" cap="none" i="0" spc="0" strike="noStrike" sz="1800" u="none">
          <a:solidFill>
            <a:srgbClr val="171616"/>
          </a:solidFill>
          <a:uFillTx/>
          <a:latin typeface="Arial"/>
          <a:ea typeface="Arial"/>
          <a:cs typeface="Arial"/>
          <a:sym typeface="Arial"/>
        </a:defRPr>
      </a:lvl7pPr>
      <a:lvl8pPr marL="3406138" marR="0" indent="-205738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>
          <a:srgbClr val="171616"/>
        </a:buClr>
        <a:buSzPct val="100000"/>
        <a:buFont typeface="Arial"/>
        <a:buChar char="•"/>
        <a:tabLst/>
        <a:defRPr b="0" baseline="0" cap="none" i="0" spc="0" strike="noStrike" sz="1800" u="none">
          <a:solidFill>
            <a:srgbClr val="171616"/>
          </a:solidFill>
          <a:uFillTx/>
          <a:latin typeface="Arial"/>
          <a:ea typeface="Arial"/>
          <a:cs typeface="Arial"/>
          <a:sym typeface="Arial"/>
        </a:defRPr>
      </a:lvl8pPr>
      <a:lvl9pPr marL="3863338" marR="0" indent="-205738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>
          <a:srgbClr val="171616"/>
        </a:buClr>
        <a:buSzPct val="100000"/>
        <a:buFont typeface="Arial"/>
        <a:buChar char="•"/>
        <a:tabLst/>
        <a:defRPr b="0" baseline="0" cap="none" i="0" spc="0" strike="noStrike" sz="1800" u="none">
          <a:solidFill>
            <a:srgbClr val="171616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en.wikipedia.org/wiki/Overlay_network" TargetMode="External"/><Relationship Id="rId6" Type="http://schemas.openxmlformats.org/officeDocument/2006/relationships/hyperlink" Target="https://en.wikipedia.org/wiki/Anonymity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i.org/10.1145/3243734.3243824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t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tif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tif"/><Relationship Id="rId3" Type="http://schemas.openxmlformats.org/officeDocument/2006/relationships/image" Target="../media/image4.tif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tif"/><Relationship Id="rId3" Type="http://schemas.openxmlformats.org/officeDocument/2006/relationships/image" Target="../media/image4.tif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tif"/><Relationship Id="rId3" Type="http://schemas.openxmlformats.org/officeDocument/2006/relationships/image" Target="../media/image4.tif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1"/>
          <p:cNvSpPr txBox="1"/>
          <p:nvPr/>
        </p:nvSpPr>
        <p:spPr>
          <a:xfrm>
            <a:off x="457200" y="1478664"/>
            <a:ext cx="8229601" cy="923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300">
                <a:latin typeface="+mn-lt"/>
                <a:ea typeface="+mn-ea"/>
                <a:cs typeface="+mn-cs"/>
                <a:sym typeface="Calibri"/>
              </a:defRPr>
            </a:pPr>
            <a:r>
              <a:t>ANN-Aware Deep Metric Learning </a:t>
            </a:r>
          </a:p>
          <a:p>
            <a:pPr>
              <a:defRPr b="1" sz="3300">
                <a:latin typeface="+mn-lt"/>
                <a:ea typeface="+mn-ea"/>
                <a:cs typeface="+mn-cs"/>
                <a:sym typeface="Calibri"/>
              </a:defRPr>
            </a:pPr>
            <a:r>
              <a:t>for Tor correlation attack</a:t>
            </a:r>
          </a:p>
        </p:txBody>
      </p:sp>
      <p:sp>
        <p:nvSpPr>
          <p:cNvPr id="30" name="Text 2"/>
          <p:cNvSpPr txBox="1"/>
          <p:nvPr/>
        </p:nvSpPr>
        <p:spPr>
          <a:xfrm>
            <a:off x="457199" y="3311387"/>
            <a:ext cx="82296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555555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Saeyeon Hong</a:t>
            </a:r>
          </a:p>
        </p:txBody>
      </p:sp>
      <p:sp>
        <p:nvSpPr>
          <p:cNvPr id="31" name="Shape 4"/>
          <p:cNvSpPr/>
          <p:nvPr/>
        </p:nvSpPr>
        <p:spPr>
          <a:xfrm>
            <a:off x="457200" y="4434840"/>
            <a:ext cx="8229602" cy="2"/>
          </a:xfrm>
          <a:prstGeom prst="line">
            <a:avLst/>
          </a:prstGeom>
          <a:ln w="10160">
            <a:solidFill>
              <a:srgbClr val="CCCCCC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7698" y="2444624"/>
            <a:ext cx="2896900" cy="248554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Text 0"/>
          <p:cNvSpPr txBox="1"/>
          <p:nvPr/>
        </p:nvSpPr>
        <p:spPr>
          <a:xfrm>
            <a:off x="457200" y="326259"/>
            <a:ext cx="8229600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Introduction — End-to-End Traffic Correlation Attack</a:t>
            </a:r>
          </a:p>
        </p:txBody>
      </p:sp>
      <p:sp>
        <p:nvSpPr>
          <p:cNvPr id="35" name="Shape 1"/>
          <p:cNvSpPr/>
          <p:nvPr/>
        </p:nvSpPr>
        <p:spPr>
          <a:xfrm>
            <a:off x="457199" y="841247"/>
            <a:ext cx="8229602" cy="2"/>
          </a:xfrm>
          <a:prstGeom prst="line">
            <a:avLst/>
          </a:prstGeom>
          <a:ln w="1524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" name="Shape 7"/>
          <p:cNvSpPr/>
          <p:nvPr/>
        </p:nvSpPr>
        <p:spPr>
          <a:xfrm flipH="1">
            <a:off x="4663438" y="1005838"/>
            <a:ext cx="4" cy="3474725"/>
          </a:xfrm>
          <a:prstGeom prst="line">
            <a:avLst/>
          </a:prstGeom>
          <a:ln w="10160">
            <a:solidFill>
              <a:srgbClr val="CCCC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7" name="Screenshot 2026-03-05 at 8.03.09 AM.pngGoogle Shape;497;p63" descr="Screenshot 2026-03-05 at 8.03.09 AM.pngGoogle Shape;497;p6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850841" y="1800891"/>
            <a:ext cx="3917899" cy="2268861"/>
          </a:xfrm>
          <a:prstGeom prst="rect">
            <a:avLst/>
          </a:prstGeom>
          <a:ln w="12700">
            <a:miter lim="400000"/>
          </a:ln>
        </p:spPr>
      </p:pic>
      <p:sp>
        <p:nvSpPr>
          <p:cNvPr id="38" name="End-to-End Tor Traffic Correlation Attack"/>
          <p:cNvSpPr txBox="1"/>
          <p:nvPr/>
        </p:nvSpPr>
        <p:spPr>
          <a:xfrm>
            <a:off x="4761174" y="1159514"/>
            <a:ext cx="3917895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End-to-End Tor Traffic Correlation Attack</a:t>
            </a:r>
          </a:p>
        </p:txBody>
      </p:sp>
      <p:pic>
        <p:nvPicPr>
          <p:cNvPr id="39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80482" y="1800891"/>
            <a:ext cx="1690779" cy="1016678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Tor: a free overlay network for enabling…"/>
          <p:cNvSpPr txBox="1"/>
          <p:nvPr/>
        </p:nvSpPr>
        <p:spPr>
          <a:xfrm>
            <a:off x="430198" y="1159513"/>
            <a:ext cx="3854048" cy="625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>
                <a:latin typeface="+mn-lt"/>
                <a:ea typeface="+mn-ea"/>
                <a:cs typeface="+mn-cs"/>
                <a:sym typeface="Calibri"/>
              </a:defRPr>
            </a:pPr>
            <a:r>
              <a:t>Tor: </a:t>
            </a:r>
            <a:r>
              <a:rPr>
                <a:solidFill>
                  <a:srgbClr val="202122"/>
                </a:solidFill>
              </a:rPr>
              <a:t>a free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 invalidUrl="" action="" tgtFrame="" tooltip="" history="1" highlightClick="0" endSnd="0"/>
              </a:rPr>
              <a:t>overlay network</a:t>
            </a:r>
            <a:r>
              <a:rPr>
                <a:solidFill>
                  <a:srgbClr val="202122"/>
                </a:solidFill>
              </a:rPr>
              <a:t> for enabling</a:t>
            </a:r>
            <a:endParaRPr>
              <a:solidFill>
                <a:srgbClr val="202122"/>
              </a:solidFill>
            </a:endParaRPr>
          </a:p>
          <a:p>
            <a:pPr>
              <a:defRPr b="1">
                <a:solidFill>
                  <a:srgbClr val="202122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6" invalidUrl="" action="" tgtFrame="" tooltip="" history="1" highlightClick="0" endSnd="0"/>
              </a:rPr>
              <a:t>anonymous communication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558;p65"/>
          <p:cNvSpPr txBox="1"/>
          <p:nvPr>
            <p:ph type="title"/>
          </p:nvPr>
        </p:nvSpPr>
        <p:spPr>
          <a:xfrm>
            <a:off x="131098" y="197267"/>
            <a:ext cx="8330404" cy="611704"/>
          </a:xfrm>
          <a:prstGeom prst="rect">
            <a:avLst/>
          </a:prstGeom>
        </p:spPr>
        <p:txBody>
          <a:bodyPr/>
          <a:lstStyle>
            <a:lvl1pPr>
              <a:defRPr b="1" sz="3000">
                <a:solidFill>
                  <a:srgbClr val="00462A"/>
                </a:solidFill>
                <a:latin typeface="IBM Plex Sans KR"/>
                <a:ea typeface="IBM Plex Sans KR"/>
                <a:cs typeface="IBM Plex Sans KR"/>
                <a:sym typeface="IBM Plex Sans KR"/>
              </a:defRPr>
            </a:lvl1pPr>
          </a:lstStyle>
          <a:p>
            <a:pPr/>
            <a:r>
              <a:t>Introduction </a:t>
            </a:r>
          </a:p>
        </p:txBody>
      </p:sp>
      <p:sp>
        <p:nvSpPr>
          <p:cNvPr id="43" name="Google Shape;559;p65"/>
          <p:cNvSpPr txBox="1"/>
          <p:nvPr/>
        </p:nvSpPr>
        <p:spPr>
          <a:xfrm>
            <a:off x="134755" y="878339"/>
            <a:ext cx="4936800" cy="1723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2" tIns="91422" rIns="91422" bIns="91422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defRPr b="1" sz="1500">
                <a:latin typeface="Arial"/>
                <a:ea typeface="Arial"/>
                <a:cs typeface="Arial"/>
                <a:sym typeface="Arial"/>
              </a:defRPr>
            </a:pPr>
            <a:r>
              <a:t>Pairwise Correlation as Binary Classification</a:t>
            </a:r>
          </a:p>
          <a:p>
            <a:pPr marL="457200" indent="-32385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SzPts val="1500"/>
              <a:buFont typeface="Arial"/>
              <a:buChar char="●"/>
              <a:defRPr i="1" sz="1500">
                <a:latin typeface="Arial"/>
                <a:ea typeface="Arial"/>
                <a:cs typeface="Arial"/>
                <a:sym typeface="Arial"/>
              </a:defRPr>
            </a:pPr>
            <a:r>
              <a:t>n</a:t>
            </a:r>
            <a:r>
              <a:rPr i="0"/>
              <a:t> inflows × </a:t>
            </a:r>
            <a:r>
              <a:t>n</a:t>
            </a:r>
            <a:r>
              <a:rPr i="0"/>
              <a:t> outflows → </a:t>
            </a:r>
            <a:r>
              <a:t>n²</a:t>
            </a:r>
            <a:r>
              <a:rPr i="0"/>
              <a:t> candidate pairs</a:t>
            </a:r>
          </a:p>
          <a:p>
            <a:pPr marL="457200" indent="-323850">
              <a:lnSpc>
                <a:spcPct val="115000"/>
              </a:lnSpc>
              <a:buClr>
                <a:srgbClr val="000000"/>
              </a:buClr>
              <a:buSzPts val="1500"/>
              <a:buFont typeface="Arial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pPr>
            <a:r>
              <a:t>Each pair is scored via a similarity metric</a:t>
            </a:r>
          </a:p>
          <a:p>
            <a:pPr marL="457200" indent="-323850">
              <a:lnSpc>
                <a:spcPct val="115000"/>
              </a:lnSpc>
              <a:buClr>
                <a:srgbClr val="000000"/>
              </a:buClr>
              <a:buSzPts val="1500"/>
              <a:buFont typeface="Arial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pPr>
            <a:r>
              <a:t>Threshold decision: correlated vs. not correlated</a:t>
            </a:r>
            <a:endParaRPr sz="2100"/>
          </a:p>
          <a:p>
            <a:pPr>
              <a:lnSpc>
                <a:spcPct val="115000"/>
              </a:lnSpc>
              <a:spcBef>
                <a:spcPts val="1200"/>
              </a:spcBef>
              <a:defRPr sz="1700">
                <a:latin typeface="Arial"/>
                <a:ea typeface="Arial"/>
                <a:cs typeface="Arial"/>
                <a:sym typeface="Arial"/>
              </a:defRPr>
            </a:pPr>
            <a:r>
              <a:t>	</a:t>
            </a:r>
          </a:p>
        </p:txBody>
      </p:sp>
      <p:grpSp>
        <p:nvGrpSpPr>
          <p:cNvPr id="58" name="Google Shape;560;p65"/>
          <p:cNvGrpSpPr/>
          <p:nvPr/>
        </p:nvGrpSpPr>
        <p:grpSpPr>
          <a:xfrm>
            <a:off x="5387606" y="2029121"/>
            <a:ext cx="314711" cy="1860386"/>
            <a:chOff x="-3" y="0"/>
            <a:chExt cx="314710" cy="1860385"/>
          </a:xfrm>
        </p:grpSpPr>
        <p:grpSp>
          <p:nvGrpSpPr>
            <p:cNvPr id="50" name="Google Shape;561;p65"/>
            <p:cNvGrpSpPr/>
            <p:nvPr/>
          </p:nvGrpSpPr>
          <p:grpSpPr>
            <a:xfrm>
              <a:off x="-4" y="-1"/>
              <a:ext cx="314712" cy="904035"/>
              <a:chOff x="-2" y="0"/>
              <a:chExt cx="314710" cy="904034"/>
            </a:xfrm>
          </p:grpSpPr>
          <p:grpSp>
            <p:nvGrpSpPr>
              <p:cNvPr id="46" name="Google Shape;562;p65"/>
              <p:cNvGrpSpPr/>
              <p:nvPr/>
            </p:nvGrpSpPr>
            <p:grpSpPr>
              <a:xfrm>
                <a:off x="-3" y="-1"/>
                <a:ext cx="314711" cy="428308"/>
                <a:chOff x="-1" y="0"/>
                <a:chExt cx="314710" cy="428306"/>
              </a:xfrm>
            </p:grpSpPr>
            <p:sp>
              <p:nvSpPr>
                <p:cNvPr id="44" name="Google Shape;563;p65"/>
                <p:cNvSpPr/>
                <p:nvPr/>
              </p:nvSpPr>
              <p:spPr>
                <a:xfrm>
                  <a:off x="-2" y="0"/>
                  <a:ext cx="314711" cy="192305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5" name="Google Shape;564;p65"/>
                <p:cNvSpPr/>
                <p:nvPr/>
              </p:nvSpPr>
              <p:spPr>
                <a:xfrm>
                  <a:off x="-2" y="236002"/>
                  <a:ext cx="314711" cy="192305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grpSp>
            <p:nvGrpSpPr>
              <p:cNvPr id="49" name="Google Shape;565;p65"/>
              <p:cNvGrpSpPr/>
              <p:nvPr/>
            </p:nvGrpSpPr>
            <p:grpSpPr>
              <a:xfrm>
                <a:off x="-3" y="475727"/>
                <a:ext cx="314711" cy="428308"/>
                <a:chOff x="-1" y="0"/>
                <a:chExt cx="314710" cy="428306"/>
              </a:xfrm>
            </p:grpSpPr>
            <p:sp>
              <p:nvSpPr>
                <p:cNvPr id="47" name="Google Shape;566;p65"/>
                <p:cNvSpPr/>
                <p:nvPr/>
              </p:nvSpPr>
              <p:spPr>
                <a:xfrm>
                  <a:off x="-2" y="-1"/>
                  <a:ext cx="314711" cy="192306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8" name="Google Shape;567;p65"/>
                <p:cNvSpPr/>
                <p:nvPr/>
              </p:nvSpPr>
              <p:spPr>
                <a:xfrm>
                  <a:off x="-2" y="236002"/>
                  <a:ext cx="314711" cy="192305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</p:grpSp>
        <p:grpSp>
          <p:nvGrpSpPr>
            <p:cNvPr id="57" name="Google Shape;568;p65"/>
            <p:cNvGrpSpPr/>
            <p:nvPr/>
          </p:nvGrpSpPr>
          <p:grpSpPr>
            <a:xfrm>
              <a:off x="-4" y="956350"/>
              <a:ext cx="314712" cy="904035"/>
              <a:chOff x="-2" y="0"/>
              <a:chExt cx="314710" cy="904034"/>
            </a:xfrm>
          </p:grpSpPr>
          <p:grpSp>
            <p:nvGrpSpPr>
              <p:cNvPr id="53" name="Google Shape;569;p65"/>
              <p:cNvGrpSpPr/>
              <p:nvPr/>
            </p:nvGrpSpPr>
            <p:grpSpPr>
              <a:xfrm>
                <a:off x="-3" y="-1"/>
                <a:ext cx="314711" cy="428308"/>
                <a:chOff x="-1" y="0"/>
                <a:chExt cx="314710" cy="428306"/>
              </a:xfrm>
            </p:grpSpPr>
            <p:sp>
              <p:nvSpPr>
                <p:cNvPr id="51" name="Google Shape;570;p65"/>
                <p:cNvSpPr/>
                <p:nvPr/>
              </p:nvSpPr>
              <p:spPr>
                <a:xfrm>
                  <a:off x="-2" y="0"/>
                  <a:ext cx="314711" cy="192305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52" name="Google Shape;571;p65"/>
                <p:cNvSpPr/>
                <p:nvPr/>
              </p:nvSpPr>
              <p:spPr>
                <a:xfrm>
                  <a:off x="-2" y="236002"/>
                  <a:ext cx="314711" cy="192305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grpSp>
            <p:nvGrpSpPr>
              <p:cNvPr id="56" name="Google Shape;572;p65"/>
              <p:cNvGrpSpPr/>
              <p:nvPr/>
            </p:nvGrpSpPr>
            <p:grpSpPr>
              <a:xfrm>
                <a:off x="-3" y="475727"/>
                <a:ext cx="314711" cy="428308"/>
                <a:chOff x="-1" y="0"/>
                <a:chExt cx="314710" cy="428306"/>
              </a:xfrm>
            </p:grpSpPr>
            <p:sp>
              <p:nvSpPr>
                <p:cNvPr id="54" name="Google Shape;573;p65"/>
                <p:cNvSpPr/>
                <p:nvPr/>
              </p:nvSpPr>
              <p:spPr>
                <a:xfrm>
                  <a:off x="-2" y="-1"/>
                  <a:ext cx="314711" cy="192306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55" name="Google Shape;574;p65"/>
                <p:cNvSpPr/>
                <p:nvPr/>
              </p:nvSpPr>
              <p:spPr>
                <a:xfrm>
                  <a:off x="-2" y="236002"/>
                  <a:ext cx="314711" cy="192305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</p:grpSp>
      </p:grpSp>
      <p:grpSp>
        <p:nvGrpSpPr>
          <p:cNvPr id="73" name="Google Shape;575;p65"/>
          <p:cNvGrpSpPr/>
          <p:nvPr/>
        </p:nvGrpSpPr>
        <p:grpSpPr>
          <a:xfrm>
            <a:off x="7994381" y="2029109"/>
            <a:ext cx="314716" cy="1860386"/>
            <a:chOff x="-3" y="0"/>
            <a:chExt cx="314714" cy="1860385"/>
          </a:xfrm>
        </p:grpSpPr>
        <p:grpSp>
          <p:nvGrpSpPr>
            <p:cNvPr id="65" name="Google Shape;576;p65"/>
            <p:cNvGrpSpPr/>
            <p:nvPr/>
          </p:nvGrpSpPr>
          <p:grpSpPr>
            <a:xfrm>
              <a:off x="-4" y="-1"/>
              <a:ext cx="314716" cy="904035"/>
              <a:chOff x="-2" y="0"/>
              <a:chExt cx="314714" cy="904034"/>
            </a:xfrm>
          </p:grpSpPr>
          <p:grpSp>
            <p:nvGrpSpPr>
              <p:cNvPr id="61" name="Google Shape;577;p65"/>
              <p:cNvGrpSpPr/>
              <p:nvPr/>
            </p:nvGrpSpPr>
            <p:grpSpPr>
              <a:xfrm>
                <a:off x="-3" y="-1"/>
                <a:ext cx="314716" cy="428308"/>
                <a:chOff x="-1" y="0"/>
                <a:chExt cx="314714" cy="428306"/>
              </a:xfrm>
            </p:grpSpPr>
            <p:sp>
              <p:nvSpPr>
                <p:cNvPr id="59" name="Google Shape;578;p65"/>
                <p:cNvSpPr/>
                <p:nvPr/>
              </p:nvSpPr>
              <p:spPr>
                <a:xfrm>
                  <a:off x="-2" y="0"/>
                  <a:ext cx="314716" cy="192305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60" name="Google Shape;579;p65"/>
                <p:cNvSpPr/>
                <p:nvPr/>
              </p:nvSpPr>
              <p:spPr>
                <a:xfrm>
                  <a:off x="-2" y="236002"/>
                  <a:ext cx="314716" cy="192305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grpSp>
            <p:nvGrpSpPr>
              <p:cNvPr id="64" name="Google Shape;580;p65"/>
              <p:cNvGrpSpPr/>
              <p:nvPr/>
            </p:nvGrpSpPr>
            <p:grpSpPr>
              <a:xfrm>
                <a:off x="-3" y="475727"/>
                <a:ext cx="314716" cy="428308"/>
                <a:chOff x="-1" y="0"/>
                <a:chExt cx="314714" cy="428306"/>
              </a:xfrm>
            </p:grpSpPr>
            <p:sp>
              <p:nvSpPr>
                <p:cNvPr id="62" name="Google Shape;581;p65"/>
                <p:cNvSpPr/>
                <p:nvPr/>
              </p:nvSpPr>
              <p:spPr>
                <a:xfrm>
                  <a:off x="-2" y="-1"/>
                  <a:ext cx="314716" cy="192306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63" name="Google Shape;582;p65"/>
                <p:cNvSpPr/>
                <p:nvPr/>
              </p:nvSpPr>
              <p:spPr>
                <a:xfrm>
                  <a:off x="-2" y="236002"/>
                  <a:ext cx="314716" cy="192305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</p:grpSp>
        <p:grpSp>
          <p:nvGrpSpPr>
            <p:cNvPr id="72" name="Google Shape;583;p65"/>
            <p:cNvGrpSpPr/>
            <p:nvPr/>
          </p:nvGrpSpPr>
          <p:grpSpPr>
            <a:xfrm>
              <a:off x="-4" y="956350"/>
              <a:ext cx="314716" cy="904035"/>
              <a:chOff x="-2" y="0"/>
              <a:chExt cx="314714" cy="904034"/>
            </a:xfrm>
          </p:grpSpPr>
          <p:grpSp>
            <p:nvGrpSpPr>
              <p:cNvPr id="68" name="Google Shape;584;p65"/>
              <p:cNvGrpSpPr/>
              <p:nvPr/>
            </p:nvGrpSpPr>
            <p:grpSpPr>
              <a:xfrm>
                <a:off x="-3" y="-1"/>
                <a:ext cx="314716" cy="428308"/>
                <a:chOff x="-1" y="0"/>
                <a:chExt cx="314714" cy="428306"/>
              </a:xfrm>
            </p:grpSpPr>
            <p:sp>
              <p:nvSpPr>
                <p:cNvPr id="66" name="Google Shape;585;p65"/>
                <p:cNvSpPr/>
                <p:nvPr/>
              </p:nvSpPr>
              <p:spPr>
                <a:xfrm>
                  <a:off x="-2" y="0"/>
                  <a:ext cx="314716" cy="192305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67" name="Google Shape;586;p65"/>
                <p:cNvSpPr/>
                <p:nvPr/>
              </p:nvSpPr>
              <p:spPr>
                <a:xfrm>
                  <a:off x="-2" y="236002"/>
                  <a:ext cx="314716" cy="192305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grpSp>
            <p:nvGrpSpPr>
              <p:cNvPr id="71" name="Google Shape;587;p65"/>
              <p:cNvGrpSpPr/>
              <p:nvPr/>
            </p:nvGrpSpPr>
            <p:grpSpPr>
              <a:xfrm>
                <a:off x="-3" y="475727"/>
                <a:ext cx="314716" cy="428308"/>
                <a:chOff x="-1" y="0"/>
                <a:chExt cx="314714" cy="428306"/>
              </a:xfrm>
            </p:grpSpPr>
            <p:sp>
              <p:nvSpPr>
                <p:cNvPr id="69" name="Google Shape;588;p65"/>
                <p:cNvSpPr/>
                <p:nvPr/>
              </p:nvSpPr>
              <p:spPr>
                <a:xfrm>
                  <a:off x="-2" y="-1"/>
                  <a:ext cx="314716" cy="192306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70" name="Google Shape;589;p65"/>
                <p:cNvSpPr/>
                <p:nvPr/>
              </p:nvSpPr>
              <p:spPr>
                <a:xfrm>
                  <a:off x="-2" y="236002"/>
                  <a:ext cx="314716" cy="192305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</p:grpSp>
      </p:grpSp>
      <p:sp>
        <p:nvSpPr>
          <p:cNvPr id="74" name="Google Shape;590;p65"/>
          <p:cNvSpPr/>
          <p:nvPr/>
        </p:nvSpPr>
        <p:spPr>
          <a:xfrm flipV="1">
            <a:off x="5544963" y="2959299"/>
            <a:ext cx="2606778" cy="15"/>
          </a:xfrm>
          <a:prstGeom prst="line">
            <a:avLst/>
          </a:prstGeom>
          <a:ln>
            <a:solidFill>
              <a:srgbClr val="59595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" name="Google Shape;591;p65"/>
          <p:cNvSpPr/>
          <p:nvPr/>
        </p:nvSpPr>
        <p:spPr>
          <a:xfrm flipV="1">
            <a:off x="5544963" y="2959299"/>
            <a:ext cx="2606778" cy="15"/>
          </a:xfrm>
          <a:prstGeom prst="line">
            <a:avLst/>
          </a:prstGeom>
          <a:ln>
            <a:solidFill>
              <a:srgbClr val="59595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" name="Google Shape;592;p65"/>
          <p:cNvSpPr/>
          <p:nvPr/>
        </p:nvSpPr>
        <p:spPr>
          <a:xfrm>
            <a:off x="5702386" y="2125186"/>
            <a:ext cx="2292003" cy="475802"/>
          </a:xfrm>
          <a:prstGeom prst="line">
            <a:avLst/>
          </a:prstGeom>
          <a:ln>
            <a:solidFill>
              <a:srgbClr val="59595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" name="Google Shape;593;p65"/>
          <p:cNvSpPr/>
          <p:nvPr/>
        </p:nvSpPr>
        <p:spPr>
          <a:xfrm>
            <a:off x="5702387" y="2125385"/>
            <a:ext cx="2292003" cy="711604"/>
          </a:xfrm>
          <a:prstGeom prst="line">
            <a:avLst/>
          </a:prstGeom>
          <a:ln>
            <a:solidFill>
              <a:srgbClr val="59595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" name="Google Shape;594;p65"/>
          <p:cNvSpPr/>
          <p:nvPr/>
        </p:nvSpPr>
        <p:spPr>
          <a:xfrm>
            <a:off x="5702386" y="2125210"/>
            <a:ext cx="2292003" cy="956402"/>
          </a:xfrm>
          <a:prstGeom prst="line">
            <a:avLst/>
          </a:prstGeom>
          <a:ln>
            <a:solidFill>
              <a:srgbClr val="59595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" name="Google Shape;595;p65"/>
          <p:cNvSpPr/>
          <p:nvPr/>
        </p:nvSpPr>
        <p:spPr>
          <a:xfrm flipV="1">
            <a:off x="5544963" y="2959299"/>
            <a:ext cx="2606778" cy="15"/>
          </a:xfrm>
          <a:prstGeom prst="line">
            <a:avLst/>
          </a:prstGeom>
          <a:ln>
            <a:solidFill>
              <a:srgbClr val="59595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" name="Google Shape;596;p65"/>
          <p:cNvSpPr/>
          <p:nvPr/>
        </p:nvSpPr>
        <p:spPr>
          <a:xfrm flipV="1">
            <a:off x="5544963" y="2959299"/>
            <a:ext cx="2606778" cy="15"/>
          </a:xfrm>
          <a:prstGeom prst="line">
            <a:avLst/>
          </a:prstGeom>
          <a:ln>
            <a:solidFill>
              <a:srgbClr val="59595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" name="Google Shape;597;p65"/>
          <p:cNvSpPr/>
          <p:nvPr/>
        </p:nvSpPr>
        <p:spPr>
          <a:xfrm>
            <a:off x="5702386" y="2361287"/>
            <a:ext cx="2292003" cy="239704"/>
          </a:xfrm>
          <a:prstGeom prst="line">
            <a:avLst/>
          </a:prstGeom>
          <a:ln>
            <a:solidFill>
              <a:srgbClr val="59595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" name="Google Shape;598;p65"/>
          <p:cNvSpPr/>
          <p:nvPr/>
        </p:nvSpPr>
        <p:spPr>
          <a:xfrm>
            <a:off x="5702386" y="2361187"/>
            <a:ext cx="2292003" cy="475803"/>
          </a:xfrm>
          <a:prstGeom prst="line">
            <a:avLst/>
          </a:prstGeom>
          <a:ln>
            <a:solidFill>
              <a:srgbClr val="59595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" name="Google Shape;599;p65"/>
          <p:cNvSpPr/>
          <p:nvPr/>
        </p:nvSpPr>
        <p:spPr>
          <a:xfrm flipV="1">
            <a:off x="5544963" y="2959299"/>
            <a:ext cx="2606778" cy="15"/>
          </a:xfrm>
          <a:prstGeom prst="line">
            <a:avLst/>
          </a:prstGeom>
          <a:ln>
            <a:solidFill>
              <a:srgbClr val="59595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" name="Google Shape;600;p65"/>
          <p:cNvSpPr txBox="1"/>
          <p:nvPr/>
        </p:nvSpPr>
        <p:spPr>
          <a:xfrm>
            <a:off x="6625463" y="3161550"/>
            <a:ext cx="445803" cy="454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2" tIns="91422" rIns="91422" bIns="91422">
            <a:spAutoFit/>
          </a:bodyPr>
          <a:lstStyle>
            <a:lvl1pPr>
              <a:defRPr sz="1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…</a:t>
            </a:r>
          </a:p>
        </p:txBody>
      </p:sp>
      <p:pic>
        <p:nvPicPr>
          <p:cNvPr id="85" name="Screenshot 2026-03-05 at 8.03.09 AM.pngGoogle Shape;601;p65" descr="Screenshot 2026-03-05 at 8.03.09 AM.pngGoogle Shape;601;p6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2635" y="2344652"/>
            <a:ext cx="3605853" cy="2088154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Google Shape;602;p65"/>
          <p:cNvSpPr/>
          <p:nvPr/>
        </p:nvSpPr>
        <p:spPr>
          <a:xfrm>
            <a:off x="5339524" y="4222963"/>
            <a:ext cx="314703" cy="192303"/>
          </a:xfrm>
          <a:prstGeom prst="rect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txBody>
          <a:bodyPr lIns="45718" tIns="45718" rIns="45718" bIns="45718" anchor="ctr"/>
          <a:lstStyle/>
          <a:p>
            <a:pPr algn="ctr"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87" name="Google Shape;603;p65"/>
          <p:cNvSpPr/>
          <p:nvPr/>
        </p:nvSpPr>
        <p:spPr>
          <a:xfrm>
            <a:off x="5339524" y="4748724"/>
            <a:ext cx="314703" cy="192303"/>
          </a:xfrm>
          <a:prstGeom prst="rect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txBody>
          <a:bodyPr lIns="45718" tIns="45718" rIns="45718" bIns="45718" anchor="ctr"/>
          <a:lstStyle/>
          <a:p>
            <a:pPr algn="ctr"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grpSp>
        <p:nvGrpSpPr>
          <p:cNvPr id="90" name="Google Shape;604;p65"/>
          <p:cNvGrpSpPr/>
          <p:nvPr/>
        </p:nvGrpSpPr>
        <p:grpSpPr>
          <a:xfrm>
            <a:off x="6283611" y="4272847"/>
            <a:ext cx="900005" cy="558446"/>
            <a:chOff x="0" y="0"/>
            <a:chExt cx="900003" cy="558444"/>
          </a:xfrm>
        </p:grpSpPr>
        <p:sp>
          <p:nvSpPr>
            <p:cNvPr id="88" name="Rectangle"/>
            <p:cNvSpPr/>
            <p:nvPr/>
          </p:nvSpPr>
          <p:spPr>
            <a:xfrm>
              <a:off x="-1" y="82574"/>
              <a:ext cx="900005" cy="39330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59595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3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9" name="Similarity metric"/>
            <p:cNvSpPr txBox="1"/>
            <p:nvPr/>
          </p:nvSpPr>
          <p:spPr>
            <a:xfrm>
              <a:off x="4761" y="-1"/>
              <a:ext cx="890480" cy="558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2" tIns="91422" rIns="91422" bIns="91422" numCol="1" anchor="ctr">
              <a:spAutoFit/>
            </a:bodyPr>
            <a:lstStyle>
              <a:lvl1pPr algn="ctr">
                <a:defRPr sz="13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Similarity metric</a:t>
              </a:r>
            </a:p>
          </p:txBody>
        </p:sp>
      </p:grpSp>
      <p:sp>
        <p:nvSpPr>
          <p:cNvPr id="91" name="Google Shape;605;p65"/>
          <p:cNvSpPr/>
          <p:nvPr/>
        </p:nvSpPr>
        <p:spPr>
          <a:xfrm>
            <a:off x="5659008" y="4349653"/>
            <a:ext cx="619844" cy="116761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" name="Google Shape;606;p65"/>
          <p:cNvSpPr/>
          <p:nvPr/>
        </p:nvSpPr>
        <p:spPr>
          <a:xfrm flipV="1">
            <a:off x="5659008" y="4659738"/>
            <a:ext cx="619844" cy="146752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" name="Google Shape;607;p65"/>
          <p:cNvSpPr txBox="1"/>
          <p:nvPr/>
        </p:nvSpPr>
        <p:spPr>
          <a:xfrm>
            <a:off x="7457113" y="4350425"/>
            <a:ext cx="900003" cy="367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2" tIns="91422" rIns="91422" bIns="91422">
            <a:spAutoFit/>
          </a:bodyPr>
          <a:lstStyle>
            <a:lvl1pPr>
              <a:defRPr sz="1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0.78 &gt; T</a:t>
            </a:r>
          </a:p>
        </p:txBody>
      </p:sp>
      <p:sp>
        <p:nvSpPr>
          <p:cNvPr id="94" name="Google Shape;608;p65"/>
          <p:cNvSpPr/>
          <p:nvPr/>
        </p:nvSpPr>
        <p:spPr>
          <a:xfrm flipV="1">
            <a:off x="7188486" y="4541284"/>
            <a:ext cx="268628" cy="4009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613;p66"/>
          <p:cNvSpPr txBox="1"/>
          <p:nvPr>
            <p:ph type="title"/>
          </p:nvPr>
        </p:nvSpPr>
        <p:spPr>
          <a:xfrm>
            <a:off x="131098" y="197267"/>
            <a:ext cx="8330404" cy="611704"/>
          </a:xfrm>
          <a:prstGeom prst="rect">
            <a:avLst/>
          </a:prstGeom>
        </p:spPr>
        <p:txBody>
          <a:bodyPr/>
          <a:lstStyle>
            <a:lvl1pPr>
              <a:defRPr b="1" sz="3000">
                <a:solidFill>
                  <a:srgbClr val="00462A"/>
                </a:solidFill>
                <a:latin typeface="IBM Plex Sans KR"/>
                <a:ea typeface="IBM Plex Sans KR"/>
                <a:cs typeface="IBM Plex Sans KR"/>
                <a:sym typeface="IBM Plex Sans KR"/>
              </a:defRPr>
            </a:lvl1pPr>
          </a:lstStyle>
          <a:p>
            <a:pPr/>
            <a:r>
              <a:t>Introduction </a:t>
            </a:r>
          </a:p>
        </p:txBody>
      </p:sp>
      <p:sp>
        <p:nvSpPr>
          <p:cNvPr id="97" name="Google Shape;614;p66"/>
          <p:cNvSpPr txBox="1"/>
          <p:nvPr/>
        </p:nvSpPr>
        <p:spPr>
          <a:xfrm>
            <a:off x="152400" y="883675"/>
            <a:ext cx="8868600" cy="720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2" tIns="91422" rIns="91422" bIns="91422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200"/>
              </a:spcBef>
              <a:buClr>
                <a:srgbClr val="171616"/>
              </a:buClr>
              <a:buSzPts val="1700"/>
              <a:buFont typeface="Arial"/>
              <a:buChar char="●"/>
              <a:defRPr sz="1700">
                <a:latin typeface="Arial"/>
                <a:ea typeface="Arial"/>
                <a:cs typeface="Arial"/>
                <a:sym typeface="Arial"/>
              </a:defRPr>
            </a:pPr>
            <a:r>
              <a:t>DeepCorr : DNN as a metric</a:t>
            </a:r>
          </a:p>
          <a:p>
            <a:pPr marL="457200" indent="-336550">
              <a:lnSpc>
                <a:spcPct val="115000"/>
              </a:lnSpc>
              <a:buClr>
                <a:srgbClr val="000000"/>
              </a:buClr>
              <a:buSzPts val="1700"/>
              <a:buFont typeface="Arial"/>
              <a:buChar char="●"/>
              <a:defRPr sz="1700">
                <a:latin typeface="Arial"/>
                <a:ea typeface="Arial"/>
                <a:cs typeface="Arial"/>
                <a:sym typeface="Arial"/>
              </a:defRPr>
            </a:pPr>
            <a:r>
              <a:t>DeepCoFFEA: </a:t>
            </a:r>
            <a:r>
              <a:rPr b="1"/>
              <a:t>Deep metric learning </a:t>
            </a:r>
          </a:p>
        </p:txBody>
      </p:sp>
      <p:sp>
        <p:nvSpPr>
          <p:cNvPr id="98" name="Google Shape;615;p66"/>
          <p:cNvSpPr/>
          <p:nvPr/>
        </p:nvSpPr>
        <p:spPr>
          <a:xfrm>
            <a:off x="401663" y="2473025"/>
            <a:ext cx="314703" cy="192303"/>
          </a:xfrm>
          <a:prstGeom prst="rect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txBody>
          <a:bodyPr lIns="45718" tIns="45718" rIns="45718" bIns="45718" anchor="ctr"/>
          <a:lstStyle/>
          <a:p>
            <a:pPr algn="ctr"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99" name="Google Shape;616;p66"/>
          <p:cNvSpPr/>
          <p:nvPr/>
        </p:nvSpPr>
        <p:spPr>
          <a:xfrm>
            <a:off x="401663" y="3058622"/>
            <a:ext cx="314703" cy="192303"/>
          </a:xfrm>
          <a:prstGeom prst="rect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txBody>
          <a:bodyPr lIns="45718" tIns="45718" rIns="45718" bIns="45718" anchor="ctr"/>
          <a:lstStyle/>
          <a:p>
            <a:pPr algn="ctr"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grpSp>
        <p:nvGrpSpPr>
          <p:cNvPr id="102" name="Google Shape;617;p66"/>
          <p:cNvGrpSpPr/>
          <p:nvPr/>
        </p:nvGrpSpPr>
        <p:grpSpPr>
          <a:xfrm>
            <a:off x="1249078" y="2077841"/>
            <a:ext cx="996675" cy="1480720"/>
            <a:chOff x="-1" y="0"/>
            <a:chExt cx="996674" cy="1480719"/>
          </a:xfrm>
        </p:grpSpPr>
        <p:sp>
          <p:nvSpPr>
            <p:cNvPr id="100" name="Rectangle"/>
            <p:cNvSpPr/>
            <p:nvPr/>
          </p:nvSpPr>
          <p:spPr>
            <a:xfrm>
              <a:off x="-2" y="0"/>
              <a:ext cx="996676" cy="148072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59595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3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1" name="DeepCorr"/>
            <p:cNvSpPr txBox="1"/>
            <p:nvPr/>
          </p:nvSpPr>
          <p:spPr>
            <a:xfrm>
              <a:off x="5274" y="556384"/>
              <a:ext cx="986126" cy="3679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2" tIns="91422" rIns="91422" bIns="91422" numCol="1" anchor="ctr">
              <a:spAutoFit/>
            </a:bodyPr>
            <a:lstStyle>
              <a:lvl1pPr algn="ctr">
                <a:defRPr sz="13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DeepCorr</a:t>
              </a:r>
            </a:p>
          </p:txBody>
        </p:sp>
      </p:grpSp>
      <p:sp>
        <p:nvSpPr>
          <p:cNvPr id="103" name="Google Shape;618;p66"/>
          <p:cNvSpPr/>
          <p:nvPr/>
        </p:nvSpPr>
        <p:spPr>
          <a:xfrm>
            <a:off x="721147" y="2603149"/>
            <a:ext cx="523174" cy="109632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" name="Google Shape;619;p66"/>
          <p:cNvSpPr/>
          <p:nvPr/>
        </p:nvSpPr>
        <p:spPr>
          <a:xfrm flipV="1">
            <a:off x="721147" y="2960683"/>
            <a:ext cx="523174" cy="148174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" name="Google Shape;620;p66"/>
          <p:cNvSpPr txBox="1"/>
          <p:nvPr/>
        </p:nvSpPr>
        <p:spPr>
          <a:xfrm>
            <a:off x="2519247" y="2660325"/>
            <a:ext cx="900003" cy="367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2" tIns="91422" rIns="91422" bIns="91422">
            <a:spAutoFit/>
          </a:bodyPr>
          <a:lstStyle>
            <a:lvl1pPr>
              <a:defRPr sz="1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0.78 &gt; T</a:t>
            </a:r>
          </a:p>
        </p:txBody>
      </p:sp>
      <p:sp>
        <p:nvSpPr>
          <p:cNvPr id="106" name="Google Shape;621;p66"/>
          <p:cNvSpPr/>
          <p:nvPr/>
        </p:nvSpPr>
        <p:spPr>
          <a:xfrm>
            <a:off x="2250396" y="2829014"/>
            <a:ext cx="268854" cy="5784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" name="Google Shape;622;p66"/>
          <p:cNvSpPr/>
          <p:nvPr/>
        </p:nvSpPr>
        <p:spPr>
          <a:xfrm>
            <a:off x="3621363" y="2355050"/>
            <a:ext cx="314703" cy="192303"/>
          </a:xfrm>
          <a:prstGeom prst="rect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txBody>
          <a:bodyPr lIns="45718" tIns="45718" rIns="45718" bIns="45718" anchor="ctr"/>
          <a:lstStyle/>
          <a:p>
            <a:pPr algn="ctr"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08" name="Google Shape;623;p66"/>
          <p:cNvSpPr/>
          <p:nvPr/>
        </p:nvSpPr>
        <p:spPr>
          <a:xfrm>
            <a:off x="3621363" y="3075900"/>
            <a:ext cx="314703" cy="192303"/>
          </a:xfrm>
          <a:prstGeom prst="rect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txBody>
          <a:bodyPr lIns="45718" tIns="45718" rIns="45718" bIns="45718" anchor="ctr"/>
          <a:lstStyle/>
          <a:p>
            <a:pPr algn="ctr"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grpSp>
        <p:nvGrpSpPr>
          <p:cNvPr id="111" name="Google Shape;624;p66"/>
          <p:cNvGrpSpPr/>
          <p:nvPr/>
        </p:nvGrpSpPr>
        <p:grpSpPr>
          <a:xfrm>
            <a:off x="4386328" y="2159882"/>
            <a:ext cx="1232649" cy="1316636"/>
            <a:chOff x="-1" y="-1"/>
            <a:chExt cx="1232648" cy="1316635"/>
          </a:xfrm>
        </p:grpSpPr>
        <p:sp>
          <p:nvSpPr>
            <p:cNvPr id="109" name="Rectangle"/>
            <p:cNvSpPr/>
            <p:nvPr/>
          </p:nvSpPr>
          <p:spPr>
            <a:xfrm>
              <a:off x="-2" y="-2"/>
              <a:ext cx="1232649" cy="131663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59595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3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10" name="DeepCoFFEA"/>
            <p:cNvSpPr txBox="1"/>
            <p:nvPr/>
          </p:nvSpPr>
          <p:spPr>
            <a:xfrm>
              <a:off x="4846" y="474342"/>
              <a:ext cx="1222953" cy="3679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2" tIns="91422" rIns="91422" bIns="91422" numCol="1" anchor="ctr">
              <a:spAutoFit/>
            </a:bodyPr>
            <a:lstStyle>
              <a:lvl1pPr>
                <a:defRPr sz="13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DeepCoFFEA</a:t>
              </a:r>
            </a:p>
          </p:txBody>
        </p:sp>
      </p:grpSp>
      <p:sp>
        <p:nvSpPr>
          <p:cNvPr id="112" name="Google Shape;625;p66"/>
          <p:cNvSpPr/>
          <p:nvPr/>
        </p:nvSpPr>
        <p:spPr>
          <a:xfrm>
            <a:off x="3936062" y="2451199"/>
            <a:ext cx="468303" cy="3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" name="Google Shape;626;p66"/>
          <p:cNvSpPr/>
          <p:nvPr/>
        </p:nvSpPr>
        <p:spPr>
          <a:xfrm>
            <a:off x="3936062" y="3172049"/>
            <a:ext cx="477003" cy="4501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" name="Google Shape;627;p66"/>
          <p:cNvSpPr txBox="1"/>
          <p:nvPr/>
        </p:nvSpPr>
        <p:spPr>
          <a:xfrm>
            <a:off x="8161725" y="2599500"/>
            <a:ext cx="900003" cy="367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2" tIns="91422" rIns="91422" bIns="91422">
            <a:spAutoFit/>
          </a:bodyPr>
          <a:lstStyle>
            <a:lvl1pPr>
              <a:defRPr sz="1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0.78 &gt; T</a:t>
            </a:r>
          </a:p>
        </p:txBody>
      </p:sp>
      <p:sp>
        <p:nvSpPr>
          <p:cNvPr id="115" name="Google Shape;628;p66"/>
          <p:cNvSpPr/>
          <p:nvPr/>
        </p:nvSpPr>
        <p:spPr>
          <a:xfrm flipV="1">
            <a:off x="5618974" y="2455663"/>
            <a:ext cx="445502" cy="2103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" name="Google Shape;629;p66"/>
          <p:cNvSpPr txBox="1"/>
          <p:nvPr/>
        </p:nvSpPr>
        <p:spPr>
          <a:xfrm>
            <a:off x="0" y="4407055"/>
            <a:ext cx="9144001" cy="81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2" tIns="91422" rIns="91422" bIns="91422">
            <a:spAutoFit/>
          </a:bodyPr>
          <a:lstStyle/>
          <a:p>
            <a:pPr>
              <a:defRPr sz="900">
                <a:latin typeface="Arial"/>
                <a:ea typeface="Arial"/>
                <a:cs typeface="Arial"/>
                <a:sym typeface="Arial"/>
              </a:defRPr>
            </a:pPr>
            <a:r>
              <a:t>Nasr, M., Bahramali, A., &amp; Houmansadr, A. (2018). DeepCorr: Strong flow correlation aacks on tor using deep learning. </a:t>
            </a:r>
            <a:r>
              <a:rPr i="1"/>
              <a:t>Proceedings of the ACM Conference on Computer and Communications Security</a:t>
            </a:r>
            <a:r>
              <a:t>, 1962–1976.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https://doi.org/10.1145/3243734.3243824</a:t>
            </a:r>
          </a:p>
          <a:p>
            <a:pPr>
              <a:defRPr sz="900"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defRPr sz="900">
                <a:latin typeface="Arial"/>
                <a:ea typeface="Arial"/>
                <a:cs typeface="Arial"/>
                <a:sym typeface="Arial"/>
              </a:defRPr>
            </a:pPr>
            <a:r>
              <a:t>Se Eun Oh; Taiji Yang; Nate Mathews; James K Holland; Mohammad Saidur Rahman; Nicholas Hopper. (2022). </a:t>
            </a:r>
            <a:r>
              <a:rPr i="1"/>
              <a:t>DeepCoFFEA: Improved Flow Correlation Attacks on Tor via Metric Learning and Ampliﬁcation</a:t>
            </a:r>
            <a:r>
              <a:t>. IEEE.</a:t>
            </a:r>
          </a:p>
        </p:txBody>
      </p:sp>
      <p:sp>
        <p:nvSpPr>
          <p:cNvPr id="117" name="Google Shape;630;p66"/>
          <p:cNvSpPr/>
          <p:nvPr/>
        </p:nvSpPr>
        <p:spPr>
          <a:xfrm>
            <a:off x="5618981" y="3127514"/>
            <a:ext cx="445503" cy="32705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20" name="Google Shape;632;p66"/>
          <p:cNvGrpSpPr/>
          <p:nvPr/>
        </p:nvGrpSpPr>
        <p:grpSpPr>
          <a:xfrm>
            <a:off x="6064482" y="2323135"/>
            <a:ext cx="532497" cy="306108"/>
            <a:chOff x="0" y="0"/>
            <a:chExt cx="532495" cy="306106"/>
          </a:xfrm>
        </p:grpSpPr>
        <p:sp>
          <p:nvSpPr>
            <p:cNvPr id="118" name="Rectangle"/>
            <p:cNvSpPr/>
            <p:nvPr/>
          </p:nvSpPr>
          <p:spPr>
            <a:xfrm>
              <a:off x="0" y="14070"/>
              <a:ext cx="532496" cy="277972"/>
            </a:xfrm>
            <a:prstGeom prst="rect">
              <a:avLst/>
            </a:prstGeom>
            <a:solidFill>
              <a:srgbClr val="EEEEEE"/>
            </a:solidFill>
            <a:ln w="9525" cap="flat">
              <a:solidFill>
                <a:srgbClr val="59595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9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19" name="embd"/>
            <p:cNvSpPr txBox="1"/>
            <p:nvPr/>
          </p:nvSpPr>
          <p:spPr>
            <a:xfrm>
              <a:off x="5316" y="-1"/>
              <a:ext cx="521864" cy="306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2" tIns="91422" rIns="91422" bIns="91422" numCol="1" anchor="ctr">
              <a:spAutoFit/>
            </a:bodyPr>
            <a:lstStyle>
              <a:lvl1pPr algn="ctr">
                <a:defRPr sz="9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embd</a:t>
              </a:r>
            </a:p>
          </p:txBody>
        </p:sp>
      </p:grpSp>
      <p:grpSp>
        <p:nvGrpSpPr>
          <p:cNvPr id="123" name="Google Shape;631;p66"/>
          <p:cNvGrpSpPr/>
          <p:nvPr/>
        </p:nvGrpSpPr>
        <p:grpSpPr>
          <a:xfrm>
            <a:off x="6064482" y="3007161"/>
            <a:ext cx="532497" cy="306107"/>
            <a:chOff x="0" y="0"/>
            <a:chExt cx="532495" cy="306106"/>
          </a:xfrm>
        </p:grpSpPr>
        <p:sp>
          <p:nvSpPr>
            <p:cNvPr id="121" name="Rectangle"/>
            <p:cNvSpPr/>
            <p:nvPr/>
          </p:nvSpPr>
          <p:spPr>
            <a:xfrm>
              <a:off x="0" y="14070"/>
              <a:ext cx="532496" cy="277972"/>
            </a:xfrm>
            <a:prstGeom prst="rect">
              <a:avLst/>
            </a:prstGeom>
            <a:solidFill>
              <a:srgbClr val="EEEEEE"/>
            </a:solidFill>
            <a:ln w="9525" cap="flat">
              <a:solidFill>
                <a:srgbClr val="59595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9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22" name="embd"/>
            <p:cNvSpPr txBox="1"/>
            <p:nvPr/>
          </p:nvSpPr>
          <p:spPr>
            <a:xfrm>
              <a:off x="5316" y="-1"/>
              <a:ext cx="521864" cy="306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2" tIns="91422" rIns="91422" bIns="91422" numCol="1" anchor="ctr">
              <a:spAutoFit/>
            </a:bodyPr>
            <a:lstStyle>
              <a:lvl1pPr algn="ctr">
                <a:defRPr sz="9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embd</a:t>
              </a:r>
            </a:p>
          </p:txBody>
        </p:sp>
      </p:grpSp>
      <p:grpSp>
        <p:nvGrpSpPr>
          <p:cNvPr id="126" name="Google Shape;633;p66"/>
          <p:cNvGrpSpPr/>
          <p:nvPr/>
        </p:nvGrpSpPr>
        <p:grpSpPr>
          <a:xfrm>
            <a:off x="6929348" y="2518110"/>
            <a:ext cx="900005" cy="558445"/>
            <a:chOff x="0" y="0"/>
            <a:chExt cx="900003" cy="558444"/>
          </a:xfrm>
        </p:grpSpPr>
        <p:sp>
          <p:nvSpPr>
            <p:cNvPr id="124" name="Rectangle"/>
            <p:cNvSpPr/>
            <p:nvPr/>
          </p:nvSpPr>
          <p:spPr>
            <a:xfrm>
              <a:off x="-1" y="82574"/>
              <a:ext cx="900005" cy="39330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59595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3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25" name="cos…"/>
            <p:cNvSpPr txBox="1"/>
            <p:nvPr/>
          </p:nvSpPr>
          <p:spPr>
            <a:xfrm>
              <a:off x="4761" y="-1"/>
              <a:ext cx="890480" cy="558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2" tIns="91422" rIns="91422" bIns="91422" numCol="1" anchor="ctr">
              <a:spAutoFit/>
            </a:bodyPr>
            <a:lstStyle/>
            <a:p>
              <a:pPr algn="ctr">
                <a:defRPr sz="1300">
                  <a:latin typeface="Arial"/>
                  <a:ea typeface="Arial"/>
                  <a:cs typeface="Arial"/>
                  <a:sym typeface="Arial"/>
                </a:defRPr>
              </a:pPr>
              <a:r>
                <a:t>cos</a:t>
              </a:r>
            </a:p>
            <a:p>
              <a:pPr algn="ctr">
                <a:defRPr sz="1300">
                  <a:latin typeface="Arial"/>
                  <a:ea typeface="Arial"/>
                  <a:cs typeface="Arial"/>
                  <a:sym typeface="Arial"/>
                </a:defRPr>
              </a:pPr>
              <a:r>
                <a:t>sims</a:t>
              </a:r>
            </a:p>
          </p:txBody>
        </p:sp>
      </p:grpSp>
      <p:sp>
        <p:nvSpPr>
          <p:cNvPr id="127" name="Google Shape;634;p66"/>
          <p:cNvSpPr/>
          <p:nvPr/>
        </p:nvSpPr>
        <p:spPr>
          <a:xfrm>
            <a:off x="6601848" y="2559223"/>
            <a:ext cx="322740" cy="98843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" name="Google Shape;635;p66"/>
          <p:cNvSpPr/>
          <p:nvPr/>
        </p:nvSpPr>
        <p:spPr>
          <a:xfrm flipV="1">
            <a:off x="6601848" y="2954708"/>
            <a:ext cx="322740" cy="111687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" name="Google Shape;636;p66"/>
          <p:cNvSpPr/>
          <p:nvPr/>
        </p:nvSpPr>
        <p:spPr>
          <a:xfrm flipV="1">
            <a:off x="7834224" y="2788648"/>
            <a:ext cx="327504" cy="3640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643;p67"/>
          <p:cNvSpPr txBox="1"/>
          <p:nvPr>
            <p:ph type="title"/>
          </p:nvPr>
        </p:nvSpPr>
        <p:spPr>
          <a:xfrm>
            <a:off x="131098" y="197267"/>
            <a:ext cx="8330404" cy="611704"/>
          </a:xfrm>
          <a:prstGeom prst="rect">
            <a:avLst/>
          </a:prstGeom>
        </p:spPr>
        <p:txBody>
          <a:bodyPr/>
          <a:lstStyle>
            <a:lvl1pPr>
              <a:defRPr b="1" sz="3000">
                <a:solidFill>
                  <a:srgbClr val="00462A"/>
                </a:solidFill>
                <a:latin typeface="IBM Plex Sans KR"/>
                <a:ea typeface="IBM Plex Sans KR"/>
                <a:cs typeface="IBM Plex Sans KR"/>
                <a:sym typeface="IBM Plex Sans KR"/>
              </a:defRPr>
            </a:lvl1pPr>
          </a:lstStyle>
          <a:p>
            <a:pPr/>
            <a:r>
              <a:t>Introduction </a:t>
            </a:r>
          </a:p>
        </p:txBody>
      </p:sp>
      <p:sp>
        <p:nvSpPr>
          <p:cNvPr id="132" name="Google Shape;644;p67"/>
          <p:cNvSpPr txBox="1"/>
          <p:nvPr/>
        </p:nvSpPr>
        <p:spPr>
          <a:xfrm>
            <a:off x="152400" y="883675"/>
            <a:ext cx="8868600" cy="1576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2" tIns="91422" rIns="91422" bIns="91422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200"/>
              </a:spcBef>
              <a:buClr>
                <a:srgbClr val="171616"/>
              </a:buClr>
              <a:buSzPts val="1700"/>
              <a:buFont typeface="Arial"/>
              <a:buChar char="●"/>
              <a:defRPr sz="1700">
                <a:latin typeface="Arial"/>
                <a:ea typeface="Arial"/>
                <a:cs typeface="Arial"/>
                <a:sym typeface="Arial"/>
              </a:defRPr>
            </a:pPr>
            <a:r>
              <a:t>ANN search (Approximate Nearest Search)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 typeface="Arial"/>
              <a:buChar char="-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Tolerates minimal approximation error in exchange for significant reduction in computational cost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 typeface="Arial"/>
              <a:buChar char="-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Given </a:t>
            </a:r>
            <a:r>
              <a:rPr i="1"/>
              <a:t>n</a:t>
            </a:r>
            <a:r>
              <a:t> flows, the ANN index retrieves top-</a:t>
            </a:r>
            <a:r>
              <a:rPr i="1"/>
              <a:t>k</a:t>
            </a:r>
            <a:r>
              <a:t> candidate matches per query — avoiding exhaustive </a:t>
            </a:r>
            <a:r>
              <a:rPr i="1"/>
              <a:t>n²</a:t>
            </a:r>
            <a:r>
              <a:t> comparisons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 typeface="Arial"/>
              <a:buChar char="-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Candidates are aggregated via a voting mechanism to determine the correlated flow</a:t>
            </a:r>
          </a:p>
        </p:txBody>
      </p:sp>
      <p:sp>
        <p:nvSpPr>
          <p:cNvPr id="133" name="Google Shape;645;p67"/>
          <p:cNvSpPr txBox="1"/>
          <p:nvPr/>
        </p:nvSpPr>
        <p:spPr>
          <a:xfrm>
            <a:off x="4666374" y="4351775"/>
            <a:ext cx="4622703" cy="442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2" tIns="91422" rIns="91422" bIns="91422">
            <a:spAutoFit/>
          </a:bodyPr>
          <a:lstStyle/>
          <a:p>
            <a:pPr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-&gt; HNSW, </a:t>
            </a:r>
            <a:r>
              <a:rPr>
                <a:solidFill>
                  <a:srgbClr val="535353"/>
                </a:solidFill>
              </a:rPr>
              <a:t>CAGRA</a:t>
            </a:r>
          </a:p>
        </p:txBody>
      </p:sp>
      <p:sp>
        <p:nvSpPr>
          <p:cNvPr id="134" name="Google Shape;646;p67"/>
          <p:cNvSpPr/>
          <p:nvPr/>
        </p:nvSpPr>
        <p:spPr>
          <a:xfrm>
            <a:off x="370710" y="3722649"/>
            <a:ext cx="314702" cy="192303"/>
          </a:xfrm>
          <a:prstGeom prst="rect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txBody>
          <a:bodyPr lIns="45718" tIns="45718" rIns="45718" bIns="45718" anchor="ctr"/>
          <a:lstStyle/>
          <a:p>
            <a:pPr algn="ctr"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grpSp>
        <p:nvGrpSpPr>
          <p:cNvPr id="137" name="Google Shape;647;p67"/>
          <p:cNvGrpSpPr/>
          <p:nvPr/>
        </p:nvGrpSpPr>
        <p:grpSpPr>
          <a:xfrm>
            <a:off x="2494218" y="3150248"/>
            <a:ext cx="900006" cy="1337105"/>
            <a:chOff x="-1" y="0"/>
            <a:chExt cx="900005" cy="1337104"/>
          </a:xfrm>
        </p:grpSpPr>
        <p:sp>
          <p:nvSpPr>
            <p:cNvPr id="135" name="Rectangle"/>
            <p:cNvSpPr/>
            <p:nvPr/>
          </p:nvSpPr>
          <p:spPr>
            <a:xfrm>
              <a:off x="-2" y="-1"/>
              <a:ext cx="900006" cy="133710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59595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3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36" name="ANN…"/>
            <p:cNvSpPr txBox="1"/>
            <p:nvPr/>
          </p:nvSpPr>
          <p:spPr>
            <a:xfrm>
              <a:off x="4762" y="389325"/>
              <a:ext cx="890479" cy="5584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2" tIns="91422" rIns="91422" bIns="91422" numCol="1" anchor="ctr">
              <a:spAutoFit/>
            </a:bodyPr>
            <a:lstStyle/>
            <a:p>
              <a:pPr algn="ctr">
                <a:defRPr sz="1300">
                  <a:latin typeface="Arial"/>
                  <a:ea typeface="Arial"/>
                  <a:cs typeface="Arial"/>
                  <a:sym typeface="Arial"/>
                </a:defRPr>
              </a:pPr>
              <a:r>
                <a:t>ANN</a:t>
              </a:r>
            </a:p>
            <a:p>
              <a:pPr algn="ctr">
                <a:defRPr sz="1300">
                  <a:latin typeface="Arial"/>
                  <a:ea typeface="Arial"/>
                  <a:cs typeface="Arial"/>
                  <a:sym typeface="Arial"/>
                </a:defRPr>
              </a:pPr>
              <a:r>
                <a:t>index</a:t>
              </a:r>
            </a:p>
          </p:txBody>
        </p:sp>
      </p:grpSp>
      <p:sp>
        <p:nvSpPr>
          <p:cNvPr id="138" name="Google Shape;648;p67"/>
          <p:cNvSpPr/>
          <p:nvPr/>
        </p:nvSpPr>
        <p:spPr>
          <a:xfrm>
            <a:off x="3958499" y="3722649"/>
            <a:ext cx="314703" cy="192303"/>
          </a:xfrm>
          <a:prstGeom prst="rect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txBody>
          <a:bodyPr lIns="45718" tIns="45718" rIns="45718" bIns="45718" anchor="ctr"/>
          <a:lstStyle/>
          <a:p>
            <a:pPr algn="ctr"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39" name="Google Shape;649;p67"/>
          <p:cNvSpPr/>
          <p:nvPr/>
        </p:nvSpPr>
        <p:spPr>
          <a:xfrm>
            <a:off x="4347907" y="3722649"/>
            <a:ext cx="314703" cy="192303"/>
          </a:xfrm>
          <a:prstGeom prst="rect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txBody>
          <a:bodyPr lIns="45718" tIns="45718" rIns="45718" bIns="45718" anchor="ctr"/>
          <a:lstStyle/>
          <a:p>
            <a:pPr algn="ctr"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40" name="Google Shape;650;p67"/>
          <p:cNvSpPr/>
          <p:nvPr/>
        </p:nvSpPr>
        <p:spPr>
          <a:xfrm>
            <a:off x="4737313" y="3722649"/>
            <a:ext cx="314703" cy="192303"/>
          </a:xfrm>
          <a:prstGeom prst="rect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txBody>
          <a:bodyPr lIns="45718" tIns="45718" rIns="45718" bIns="45718" anchor="ctr"/>
          <a:lstStyle/>
          <a:p>
            <a:pPr algn="ctr"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41" name="Google Shape;651;p67"/>
          <p:cNvSpPr/>
          <p:nvPr/>
        </p:nvSpPr>
        <p:spPr>
          <a:xfrm>
            <a:off x="690193" y="3819611"/>
            <a:ext cx="474938" cy="2382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" name="Google Shape;652;p67"/>
          <p:cNvSpPr/>
          <p:nvPr/>
        </p:nvSpPr>
        <p:spPr>
          <a:xfrm>
            <a:off x="3328130" y="3818799"/>
            <a:ext cx="463203" cy="17403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" name="Google Shape;653;p67"/>
          <p:cNvSpPr txBox="1"/>
          <p:nvPr/>
        </p:nvSpPr>
        <p:spPr>
          <a:xfrm>
            <a:off x="3698099" y="3318714"/>
            <a:ext cx="1747800" cy="392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2" tIns="91422" rIns="91422" bIns="91422">
            <a:spAutoFit/>
          </a:bodyPr>
          <a:lstStyle>
            <a:lvl1pPr>
              <a:defRPr sz="15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Top-k candidates </a:t>
            </a:r>
          </a:p>
        </p:txBody>
      </p:sp>
      <p:grpSp>
        <p:nvGrpSpPr>
          <p:cNvPr id="146" name="Google Shape;647;p67"/>
          <p:cNvGrpSpPr/>
          <p:nvPr/>
        </p:nvGrpSpPr>
        <p:grpSpPr>
          <a:xfrm>
            <a:off x="791287" y="3150248"/>
            <a:ext cx="900006" cy="1337105"/>
            <a:chOff x="-1" y="0"/>
            <a:chExt cx="900005" cy="1337104"/>
          </a:xfrm>
        </p:grpSpPr>
        <p:sp>
          <p:nvSpPr>
            <p:cNvPr id="144" name="Rectangle"/>
            <p:cNvSpPr/>
            <p:nvPr/>
          </p:nvSpPr>
          <p:spPr>
            <a:xfrm>
              <a:off x="-2" y="-1"/>
              <a:ext cx="900006" cy="133710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59595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3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45" name="DCF’s…"/>
            <p:cNvSpPr txBox="1"/>
            <p:nvPr/>
          </p:nvSpPr>
          <p:spPr>
            <a:xfrm>
              <a:off x="4762" y="389325"/>
              <a:ext cx="890479" cy="5584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2" tIns="91422" rIns="91422" bIns="91422" numCol="1" anchor="ctr">
              <a:spAutoFit/>
            </a:bodyPr>
            <a:lstStyle/>
            <a:p>
              <a:pPr algn="ctr">
                <a:defRPr sz="1300">
                  <a:latin typeface="Arial"/>
                  <a:ea typeface="Arial"/>
                  <a:cs typeface="Arial"/>
                  <a:sym typeface="Arial"/>
                </a:defRPr>
              </a:pPr>
              <a:r>
                <a:t>DCF’s</a:t>
              </a:r>
            </a:p>
            <a:p>
              <a:pPr algn="ctr">
                <a:defRPr sz="1300">
                  <a:latin typeface="Arial"/>
                  <a:ea typeface="Arial"/>
                  <a:cs typeface="Arial"/>
                  <a:sym typeface="Arial"/>
                </a:defRPr>
              </a:pPr>
              <a:r>
                <a:t>FEN</a:t>
              </a:r>
            </a:p>
          </p:txBody>
        </p:sp>
      </p:grpSp>
      <p:sp>
        <p:nvSpPr>
          <p:cNvPr id="147" name="Google Shape;652;p67"/>
          <p:cNvSpPr/>
          <p:nvPr/>
        </p:nvSpPr>
        <p:spPr>
          <a:xfrm>
            <a:off x="1691050" y="3818799"/>
            <a:ext cx="800619" cy="2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0" name="Google Shape;632;p66"/>
          <p:cNvGrpSpPr/>
          <p:nvPr/>
        </p:nvGrpSpPr>
        <p:grpSpPr>
          <a:xfrm>
            <a:off x="1825112" y="3681527"/>
            <a:ext cx="532497" cy="306108"/>
            <a:chOff x="0" y="0"/>
            <a:chExt cx="532495" cy="306106"/>
          </a:xfrm>
        </p:grpSpPr>
        <p:sp>
          <p:nvSpPr>
            <p:cNvPr id="148" name="Rectangle"/>
            <p:cNvSpPr/>
            <p:nvPr/>
          </p:nvSpPr>
          <p:spPr>
            <a:xfrm>
              <a:off x="0" y="14070"/>
              <a:ext cx="532496" cy="277972"/>
            </a:xfrm>
            <a:prstGeom prst="rect">
              <a:avLst/>
            </a:prstGeom>
            <a:solidFill>
              <a:srgbClr val="EEEEEE"/>
            </a:solidFill>
            <a:ln w="9525" cap="flat">
              <a:solidFill>
                <a:srgbClr val="59595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9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49" name="embd"/>
            <p:cNvSpPr txBox="1"/>
            <p:nvPr/>
          </p:nvSpPr>
          <p:spPr>
            <a:xfrm>
              <a:off x="5316" y="-1"/>
              <a:ext cx="521864" cy="306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2" tIns="91422" rIns="91422" bIns="91422" numCol="1" anchor="ctr">
              <a:spAutoFit/>
            </a:bodyPr>
            <a:lstStyle>
              <a:lvl1pPr algn="ctr">
                <a:defRPr sz="9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embd</a:t>
              </a:r>
            </a:p>
          </p:txBody>
        </p:sp>
      </p:grpSp>
      <p:sp>
        <p:nvSpPr>
          <p:cNvPr id="151" name="O(NlogN)"/>
          <p:cNvSpPr txBox="1"/>
          <p:nvPr/>
        </p:nvSpPr>
        <p:spPr>
          <a:xfrm>
            <a:off x="6276202" y="3485681"/>
            <a:ext cx="1069437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O(NlogN)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 txBox="1"/>
          <p:nvPr/>
        </p:nvSpPr>
        <p:spPr>
          <a:xfrm>
            <a:off x="457200" y="326259"/>
            <a:ext cx="8229600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Motivation — How  ANN works? </a:t>
            </a:r>
          </a:p>
        </p:txBody>
      </p:sp>
      <p:sp>
        <p:nvSpPr>
          <p:cNvPr id="154" name="Shape 1"/>
          <p:cNvSpPr/>
          <p:nvPr/>
        </p:nvSpPr>
        <p:spPr>
          <a:xfrm>
            <a:off x="457200" y="841247"/>
            <a:ext cx="8229602" cy="2"/>
          </a:xfrm>
          <a:prstGeom prst="line">
            <a:avLst/>
          </a:prstGeom>
          <a:ln w="1524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Greedy Search…"/>
          <p:cNvSpPr txBox="1"/>
          <p:nvPr/>
        </p:nvSpPr>
        <p:spPr>
          <a:xfrm>
            <a:off x="380738" y="1081055"/>
            <a:ext cx="4266521" cy="1512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2100">
                <a:latin typeface="+mn-lt"/>
                <a:ea typeface="+mn-ea"/>
                <a:cs typeface="+mn-cs"/>
                <a:sym typeface="Calibri"/>
              </a:defRPr>
            </a:pPr>
            <a:r>
              <a:t>Greedy Search 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1. 임의의 시작 노드에서 출발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2. 현재 노드의 이웃들을 봄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3. 이웃 중에 query에 더 가까운 게 있으면 → 거기로 이동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4. 더 가까운 이웃이 없으면 → 멈춤 (local minimum)</a:t>
            </a:r>
          </a:p>
        </p:txBody>
      </p:sp>
      <p:pic>
        <p:nvPicPr>
          <p:cNvPr id="15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87150" y="2482564"/>
            <a:ext cx="4356850" cy="245073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 txBox="1"/>
          <p:nvPr/>
        </p:nvSpPr>
        <p:spPr>
          <a:xfrm>
            <a:off x="457200" y="326259"/>
            <a:ext cx="8229600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Motivation — How  ANN works? </a:t>
            </a:r>
          </a:p>
        </p:txBody>
      </p:sp>
      <p:sp>
        <p:nvSpPr>
          <p:cNvPr id="159" name="Shape 1"/>
          <p:cNvSpPr/>
          <p:nvPr/>
        </p:nvSpPr>
        <p:spPr>
          <a:xfrm>
            <a:off x="457199" y="841247"/>
            <a:ext cx="8229602" cy="2"/>
          </a:xfrm>
          <a:prstGeom prst="line">
            <a:avLst/>
          </a:prstGeom>
          <a:ln w="1524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" name="Greedy Search…"/>
          <p:cNvSpPr txBox="1"/>
          <p:nvPr/>
        </p:nvSpPr>
        <p:spPr>
          <a:xfrm>
            <a:off x="380738" y="1081055"/>
            <a:ext cx="4266521" cy="1512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2100">
                <a:latin typeface="+mn-lt"/>
                <a:ea typeface="+mn-ea"/>
                <a:cs typeface="+mn-cs"/>
                <a:sym typeface="Calibri"/>
              </a:defRPr>
            </a:pPr>
            <a:r>
              <a:t>Greedy Search 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1. 임의의 시작 노드에서 출발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2. 현재 노드의 이웃들을 봄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3. 이웃 중에 query에 더 가까운 게 있으면 → 거기로 이동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4. 더 가까운 이웃이 없으면 → 멈춤 (local minimum)</a:t>
            </a:r>
          </a:p>
        </p:txBody>
      </p:sp>
      <p:pic>
        <p:nvPicPr>
          <p:cNvPr id="16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87150" y="2482564"/>
            <a:ext cx="4356850" cy="245073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4" name="그럼 greedy search 가 global nearest neighbor 를 잘 찾으려면, 그래프가 어떤 구조여야 할까?"/>
          <p:cNvGrpSpPr/>
          <p:nvPr/>
        </p:nvGrpSpPr>
        <p:grpSpPr>
          <a:xfrm>
            <a:off x="1738671" y="1704018"/>
            <a:ext cx="5379645" cy="2026845"/>
            <a:chOff x="0" y="0"/>
            <a:chExt cx="5379644" cy="2026844"/>
          </a:xfrm>
        </p:grpSpPr>
        <p:sp>
          <p:nvSpPr>
            <p:cNvPr id="162" name="Shape"/>
            <p:cNvSpPr/>
            <p:nvPr/>
          </p:nvSpPr>
          <p:spPr>
            <a:xfrm>
              <a:off x="-1" y="-1"/>
              <a:ext cx="5379646" cy="20268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01" y="0"/>
                  </a:moveTo>
                  <a:cubicBezTo>
                    <a:pt x="1780" y="0"/>
                    <a:pt x="1601" y="475"/>
                    <a:pt x="1601" y="1062"/>
                  </a:cubicBezTo>
                  <a:lnTo>
                    <a:pt x="1601" y="8506"/>
                  </a:lnTo>
                  <a:lnTo>
                    <a:pt x="0" y="10629"/>
                  </a:lnTo>
                  <a:lnTo>
                    <a:pt x="1601" y="12752"/>
                  </a:lnTo>
                  <a:lnTo>
                    <a:pt x="1601" y="20538"/>
                  </a:lnTo>
                  <a:cubicBezTo>
                    <a:pt x="1601" y="21125"/>
                    <a:pt x="1780" y="21600"/>
                    <a:pt x="2001" y="21600"/>
                  </a:cubicBezTo>
                  <a:lnTo>
                    <a:pt x="21200" y="21600"/>
                  </a:lnTo>
                  <a:cubicBezTo>
                    <a:pt x="21421" y="21600"/>
                    <a:pt x="21600" y="21125"/>
                    <a:pt x="21600" y="20538"/>
                  </a:cubicBezTo>
                  <a:lnTo>
                    <a:pt x="21600" y="1062"/>
                  </a:lnTo>
                  <a:cubicBezTo>
                    <a:pt x="21600" y="475"/>
                    <a:pt x="21421" y="0"/>
                    <a:pt x="21200" y="0"/>
                  </a:cubicBezTo>
                  <a:lnTo>
                    <a:pt x="2001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63" name="그럼 greedy search 가 global nearest neighbor 를 잘 찾으려면, 그래프가 어떤 구조여야 할까?"/>
            <p:cNvSpPr txBox="1"/>
            <p:nvPr/>
          </p:nvSpPr>
          <p:spPr>
            <a:xfrm>
              <a:off x="6349" y="675775"/>
              <a:ext cx="5366945" cy="6752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/>
              <a:r>
                <a:t>그럼 greedy search 가 global nearest neighbor 를 잘 찾으려면, 그래프가 어떤 구조여야 할까? 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 txBox="1"/>
          <p:nvPr/>
        </p:nvSpPr>
        <p:spPr>
          <a:xfrm>
            <a:off x="457200" y="326259"/>
            <a:ext cx="8229600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Motivation — How  ANN works? </a:t>
            </a:r>
          </a:p>
        </p:txBody>
      </p:sp>
      <p:sp>
        <p:nvSpPr>
          <p:cNvPr id="167" name="Shape 1"/>
          <p:cNvSpPr/>
          <p:nvPr/>
        </p:nvSpPr>
        <p:spPr>
          <a:xfrm>
            <a:off x="457199" y="841247"/>
            <a:ext cx="8229602" cy="2"/>
          </a:xfrm>
          <a:prstGeom prst="line">
            <a:avLst/>
          </a:prstGeom>
          <a:ln w="1524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0" name="1. Navigability (Small World 구조) 어디서든 적은 hop으로 도달 가능해야 함…"/>
          <p:cNvGrpSpPr/>
          <p:nvPr/>
        </p:nvGrpSpPr>
        <p:grpSpPr>
          <a:xfrm>
            <a:off x="429299" y="1163976"/>
            <a:ext cx="4163107" cy="1615482"/>
            <a:chOff x="0" y="-1"/>
            <a:chExt cx="4163105" cy="1615481"/>
          </a:xfrm>
        </p:grpSpPr>
        <p:sp>
          <p:nvSpPr>
            <p:cNvPr id="168" name="Rectangle"/>
            <p:cNvSpPr/>
            <p:nvPr/>
          </p:nvSpPr>
          <p:spPr>
            <a:xfrm>
              <a:off x="-1" y="-2"/>
              <a:ext cx="4163107" cy="161548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defTabSz="457200">
                <a:spcBef>
                  <a:spcPts val="1200"/>
                </a:spcBef>
                <a:defRPr sz="1600"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69" name="1. Navigability (Small World 구조) 어디서든 적은 hop으로 도달 가능해야 함…"/>
            <p:cNvSpPr txBox="1"/>
            <p:nvPr/>
          </p:nvSpPr>
          <p:spPr>
            <a:xfrm>
              <a:off x="6349" y="135949"/>
              <a:ext cx="4150407" cy="13435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defTabSz="457200">
                <a:spcBef>
                  <a:spcPts val="1200"/>
                </a:spcBef>
                <a:defRPr b="1" sz="1600">
                  <a:latin typeface="+mn-lt"/>
                  <a:ea typeface="+mn-ea"/>
                  <a:cs typeface="+mn-cs"/>
                  <a:sym typeface="Calibri"/>
                </a:defRPr>
              </a:pPr>
              <a:r>
                <a:t>1. Navigability (Small World 구조)</a:t>
              </a:r>
              <a:r>
                <a:rPr b="0"/>
                <a:t> 어디서든 적은 hop으로 도달 가능해야 함</a:t>
              </a:r>
            </a:p>
            <a:p>
              <a:pPr defTabSz="457200">
                <a:spcBef>
                  <a:spcPts val="1200"/>
                </a:spcBef>
                <a:defRPr b="1" sz="1600">
                  <a:latin typeface="+mn-lt"/>
                  <a:ea typeface="+mn-ea"/>
                  <a:cs typeface="+mn-cs"/>
                  <a:sym typeface="Calibri"/>
                </a:defRPr>
              </a:pPr>
              <a:r>
                <a:t>2. Accuracy (Delaunay 근사)</a:t>
              </a:r>
              <a:r>
                <a:rPr b="0"/>
                <a:t> 진짜 nearest neighbor와 연결되어 있어야 함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0"/>
          <p:cNvSpPr txBox="1"/>
          <p:nvPr/>
        </p:nvSpPr>
        <p:spPr>
          <a:xfrm>
            <a:off x="457200" y="326259"/>
            <a:ext cx="8229600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Motivation — How  ANN works? </a:t>
            </a:r>
          </a:p>
        </p:txBody>
      </p:sp>
      <p:sp>
        <p:nvSpPr>
          <p:cNvPr id="173" name="Shape 1"/>
          <p:cNvSpPr/>
          <p:nvPr/>
        </p:nvSpPr>
        <p:spPr>
          <a:xfrm>
            <a:off x="457199" y="841247"/>
            <a:ext cx="8229602" cy="2"/>
          </a:xfrm>
          <a:prstGeom prst="line">
            <a:avLst/>
          </a:prstGeom>
          <a:ln w="1524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" name="HNSW graph build…"/>
          <p:cNvSpPr txBox="1"/>
          <p:nvPr/>
        </p:nvSpPr>
        <p:spPr>
          <a:xfrm>
            <a:off x="455687" y="3037271"/>
            <a:ext cx="3963556" cy="1796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2100">
                <a:latin typeface="+mn-lt"/>
                <a:ea typeface="+mn-ea"/>
                <a:cs typeface="+mn-cs"/>
                <a:sym typeface="Calibri"/>
              </a:defRPr>
            </a:pPr>
            <a:r>
              <a:t>HNSW graph build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1. 데이터를 hierarchical 공간에 고정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2. 이웃을 연결할 노드를 삽입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3. 각 삽입마다 후보 탐색 →</a:t>
            </a:r>
            <a:r>
              <a:rPr b="1"/>
              <a:t> heuristic 으로 M개 선택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4. 방향 다양성 있는 그래프 완성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5. 이 위에서 greedy search</a:t>
            </a:r>
          </a:p>
        </p:txBody>
      </p:sp>
      <p:pic>
        <p:nvPicPr>
          <p:cNvPr id="17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12256" y="3055461"/>
            <a:ext cx="3949213" cy="22214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76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12360" y="544886"/>
            <a:ext cx="3949097" cy="2015684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Line"/>
          <p:cNvSpPr/>
          <p:nvPr/>
        </p:nvSpPr>
        <p:spPr>
          <a:xfrm>
            <a:off x="5083419" y="2808016"/>
            <a:ext cx="4121423" cy="2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Line"/>
          <p:cNvSpPr/>
          <p:nvPr/>
        </p:nvSpPr>
        <p:spPr>
          <a:xfrm flipH="1">
            <a:off x="5078664" y="656510"/>
            <a:ext cx="2" cy="4640930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81" name="1. Navigability (Small World 구조) 어디서든 적은 hop으로 도달 가능해야 함…"/>
          <p:cNvGrpSpPr/>
          <p:nvPr/>
        </p:nvGrpSpPr>
        <p:grpSpPr>
          <a:xfrm>
            <a:off x="429299" y="1163976"/>
            <a:ext cx="4163107" cy="1615482"/>
            <a:chOff x="0" y="-1"/>
            <a:chExt cx="4163105" cy="1615481"/>
          </a:xfrm>
        </p:grpSpPr>
        <p:sp>
          <p:nvSpPr>
            <p:cNvPr id="179" name="Rectangle"/>
            <p:cNvSpPr/>
            <p:nvPr/>
          </p:nvSpPr>
          <p:spPr>
            <a:xfrm>
              <a:off x="-1" y="-2"/>
              <a:ext cx="4163107" cy="161548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defTabSz="457200">
                <a:spcBef>
                  <a:spcPts val="1200"/>
                </a:spcBef>
                <a:defRPr sz="1600"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80" name="1. Navigability (Small World 구조) 어디서든 적은 hop으로 도달 가능해야 함…"/>
            <p:cNvSpPr txBox="1"/>
            <p:nvPr/>
          </p:nvSpPr>
          <p:spPr>
            <a:xfrm>
              <a:off x="6349" y="135949"/>
              <a:ext cx="4150407" cy="13435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defTabSz="457200">
                <a:spcBef>
                  <a:spcPts val="1200"/>
                </a:spcBef>
                <a:defRPr b="1" sz="1600">
                  <a:latin typeface="+mn-lt"/>
                  <a:ea typeface="+mn-ea"/>
                  <a:cs typeface="+mn-cs"/>
                  <a:sym typeface="Calibri"/>
                </a:defRPr>
              </a:pPr>
              <a:r>
                <a:t>1. Navigability (Small World 구조)</a:t>
              </a:r>
              <a:r>
                <a:rPr b="0"/>
                <a:t> 어디서든 적은 hop으로 도달 가능해야 함</a:t>
              </a:r>
            </a:p>
            <a:p>
              <a:pPr defTabSz="457200">
                <a:spcBef>
                  <a:spcPts val="1200"/>
                </a:spcBef>
                <a:defRPr b="1" sz="1600">
                  <a:latin typeface="+mn-lt"/>
                  <a:ea typeface="+mn-ea"/>
                  <a:cs typeface="+mn-cs"/>
                  <a:sym typeface="Calibri"/>
                </a:defRPr>
              </a:pPr>
              <a:r>
                <a:t>2. Accuracy (Delaunay 근사)</a:t>
              </a:r>
              <a:r>
                <a:rPr b="0"/>
                <a:t> 진짜 nearest neighbor와 연결되어 있어야 함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 txBox="1"/>
          <p:nvPr/>
        </p:nvSpPr>
        <p:spPr>
          <a:xfrm>
            <a:off x="457200" y="326259"/>
            <a:ext cx="8229600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Motivation — How  ANN works? </a:t>
            </a:r>
          </a:p>
        </p:txBody>
      </p:sp>
      <p:sp>
        <p:nvSpPr>
          <p:cNvPr id="184" name="Shape 1"/>
          <p:cNvSpPr/>
          <p:nvPr/>
        </p:nvSpPr>
        <p:spPr>
          <a:xfrm>
            <a:off x="457199" y="841247"/>
            <a:ext cx="8229602" cy="2"/>
          </a:xfrm>
          <a:prstGeom prst="line">
            <a:avLst/>
          </a:prstGeom>
          <a:ln w="1524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5" name="HNSW graph build…"/>
          <p:cNvSpPr txBox="1"/>
          <p:nvPr/>
        </p:nvSpPr>
        <p:spPr>
          <a:xfrm>
            <a:off x="455687" y="3037271"/>
            <a:ext cx="3963556" cy="1796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2100">
                <a:latin typeface="+mn-lt"/>
                <a:ea typeface="+mn-ea"/>
                <a:cs typeface="+mn-cs"/>
                <a:sym typeface="Calibri"/>
              </a:defRPr>
            </a:pPr>
            <a:r>
              <a:t>HNSW graph build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1. 데이터를 hierarchical 공간에 고정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2. 이웃을 연결할 노드를 삽입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3. 각 삽입마다 후보 탐색 →</a:t>
            </a:r>
            <a:r>
              <a:rPr b="1"/>
              <a:t> heuristic 으로 M개 선택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4. 방향 다양성 있는 그래프 완성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5. 이 위에서 greedy search</a:t>
            </a:r>
          </a:p>
        </p:txBody>
      </p:sp>
      <p:pic>
        <p:nvPicPr>
          <p:cNvPr id="18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12256" y="3055461"/>
            <a:ext cx="3949213" cy="22214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12360" y="544886"/>
            <a:ext cx="3949097" cy="2015684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Line"/>
          <p:cNvSpPr/>
          <p:nvPr/>
        </p:nvSpPr>
        <p:spPr>
          <a:xfrm>
            <a:off x="5083419" y="2808016"/>
            <a:ext cx="4121423" cy="2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" name="Line"/>
          <p:cNvSpPr/>
          <p:nvPr/>
        </p:nvSpPr>
        <p:spPr>
          <a:xfrm flipH="1">
            <a:off x="5078664" y="656510"/>
            <a:ext cx="2" cy="4640930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2" name="1. Navigability (Small World 구조) 어디서든 적은 hop으로 도달 가능해야 함…"/>
          <p:cNvGrpSpPr/>
          <p:nvPr/>
        </p:nvGrpSpPr>
        <p:grpSpPr>
          <a:xfrm>
            <a:off x="429299" y="1163976"/>
            <a:ext cx="4163107" cy="1615482"/>
            <a:chOff x="0" y="-1"/>
            <a:chExt cx="4163105" cy="1615481"/>
          </a:xfrm>
        </p:grpSpPr>
        <p:sp>
          <p:nvSpPr>
            <p:cNvPr id="190" name="Rectangle"/>
            <p:cNvSpPr/>
            <p:nvPr/>
          </p:nvSpPr>
          <p:spPr>
            <a:xfrm>
              <a:off x="-1" y="-2"/>
              <a:ext cx="4163107" cy="161548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defTabSz="457200">
                <a:spcBef>
                  <a:spcPts val="1200"/>
                </a:spcBef>
                <a:defRPr sz="1600"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91" name="1. Navigability (Small World 구조) 어디서든 적은 hop으로 도달 가능해야 함…"/>
            <p:cNvSpPr txBox="1"/>
            <p:nvPr/>
          </p:nvSpPr>
          <p:spPr>
            <a:xfrm>
              <a:off x="6349" y="135949"/>
              <a:ext cx="4150407" cy="13435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defTabSz="457200">
                <a:spcBef>
                  <a:spcPts val="1200"/>
                </a:spcBef>
                <a:defRPr b="1" sz="1600">
                  <a:latin typeface="+mn-lt"/>
                  <a:ea typeface="+mn-ea"/>
                  <a:cs typeface="+mn-cs"/>
                  <a:sym typeface="Calibri"/>
                </a:defRPr>
              </a:pPr>
              <a:r>
                <a:t>1. Navigability (Small World 구조)</a:t>
              </a:r>
              <a:r>
                <a:rPr b="0"/>
                <a:t> 어디서든 적은 hop으로 도달 가능해야 함</a:t>
              </a:r>
            </a:p>
            <a:p>
              <a:pPr defTabSz="457200">
                <a:spcBef>
                  <a:spcPts val="1200"/>
                </a:spcBef>
                <a:defRPr b="1" sz="1600">
                  <a:latin typeface="+mn-lt"/>
                  <a:ea typeface="+mn-ea"/>
                  <a:cs typeface="+mn-cs"/>
                  <a:sym typeface="Calibri"/>
                </a:defRPr>
              </a:pPr>
              <a:r>
                <a:t>2. Accuracy (Delaunay 근사)</a:t>
              </a:r>
              <a:r>
                <a:rPr b="0"/>
                <a:t> 진짜 nearest neighbor와 연결되어 있어야 함</a:t>
              </a:r>
            </a:p>
          </p:txBody>
        </p:sp>
      </p:grpSp>
      <p:grpSp>
        <p:nvGrpSpPr>
          <p:cNvPr id="195" name="Q와 이미 선택된 이웃 r이 있고, 새 후보 e를 보는데:…"/>
          <p:cNvGrpSpPr/>
          <p:nvPr/>
        </p:nvGrpSpPr>
        <p:grpSpPr>
          <a:xfrm>
            <a:off x="347288" y="949928"/>
            <a:ext cx="4327130" cy="2920609"/>
            <a:chOff x="0" y="0"/>
            <a:chExt cx="4327129" cy="2920607"/>
          </a:xfrm>
        </p:grpSpPr>
        <p:sp>
          <p:nvSpPr>
            <p:cNvPr id="193" name="Shape"/>
            <p:cNvSpPr/>
            <p:nvPr/>
          </p:nvSpPr>
          <p:spPr>
            <a:xfrm>
              <a:off x="0" y="-1"/>
              <a:ext cx="4327130" cy="29206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48" y="0"/>
                  </a:moveTo>
                  <a:cubicBezTo>
                    <a:pt x="200" y="0"/>
                    <a:pt x="0" y="297"/>
                    <a:pt x="0" y="663"/>
                  </a:cubicBezTo>
                  <a:lnTo>
                    <a:pt x="0" y="13728"/>
                  </a:lnTo>
                  <a:cubicBezTo>
                    <a:pt x="0" y="14094"/>
                    <a:pt x="200" y="14391"/>
                    <a:pt x="448" y="14391"/>
                  </a:cubicBezTo>
                  <a:lnTo>
                    <a:pt x="16796" y="14391"/>
                  </a:lnTo>
                  <a:lnTo>
                    <a:pt x="17095" y="21600"/>
                  </a:lnTo>
                  <a:lnTo>
                    <a:pt x="17394" y="14391"/>
                  </a:lnTo>
                  <a:lnTo>
                    <a:pt x="21152" y="14391"/>
                  </a:lnTo>
                  <a:cubicBezTo>
                    <a:pt x="21400" y="14391"/>
                    <a:pt x="21600" y="14094"/>
                    <a:pt x="21600" y="13728"/>
                  </a:cubicBezTo>
                  <a:lnTo>
                    <a:pt x="21600" y="663"/>
                  </a:lnTo>
                  <a:cubicBezTo>
                    <a:pt x="21600" y="297"/>
                    <a:pt x="21400" y="0"/>
                    <a:pt x="21152" y="0"/>
                  </a:cubicBezTo>
                  <a:lnTo>
                    <a:pt x="448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94" name="Q와 이미 선택된 이웃 r이 있고, 새 후보 e를 보는데:…"/>
            <p:cNvSpPr txBox="1"/>
            <p:nvPr/>
          </p:nvSpPr>
          <p:spPr>
            <a:xfrm>
              <a:off x="6350" y="887880"/>
              <a:ext cx="4314430" cy="11448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defTabSz="457200">
                <a:spcBef>
                  <a:spcPts val="1200"/>
                </a:spcBef>
                <a:defRPr sz="1200">
                  <a:latin typeface="+mn-lt"/>
                  <a:ea typeface="+mn-ea"/>
                  <a:cs typeface="+mn-cs"/>
                  <a:sym typeface="Calibri"/>
                </a:defRPr>
              </a:pPr>
              <a:r>
                <a:t>Q와 이미 선택된 이웃 r이 있고, 새 후보 e를 보는데:</a:t>
              </a:r>
            </a:p>
            <a:p>
              <a:pPr marL="457200" indent="-317500" defTabSz="457200">
                <a:buSzPct val="100000"/>
                <a:buFont typeface="Times Roman"/>
                <a:buChar char="•"/>
                <a:defRPr sz="1200">
                  <a:latin typeface="+mn-lt"/>
                  <a:ea typeface="+mn-ea"/>
                  <a:cs typeface="+mn-cs"/>
                  <a:sym typeface="Calibri"/>
                </a:defRPr>
              </a:pPr>
              <a:r>
                <a:t>e가 r보다 Q에 더 가까우면 → e는 r이 커버 못 하는 독립적인 방향에 있다는 뜻 → </a:t>
              </a:r>
              <a:r>
                <a:rPr b="1"/>
                <a:t>추가</a:t>
              </a:r>
            </a:p>
            <a:p>
              <a:pPr marL="457200" indent="-317500" defTabSz="457200">
                <a:buSzPct val="100000"/>
                <a:buFont typeface="Times Roman"/>
                <a:buChar char="•"/>
                <a:defRPr sz="1200">
                  <a:latin typeface="+mn-lt"/>
                  <a:ea typeface="+mn-ea"/>
                  <a:cs typeface="+mn-cs"/>
                  <a:sym typeface="Calibri"/>
                </a:defRPr>
              </a:pPr>
              <a:r>
                <a:t>e가 r보다 Q에서 멀면 → r이 이미 그 방향을 커버하고 있다는 뜻 → </a:t>
              </a:r>
              <a:r>
                <a:rPr b="1"/>
                <a:t>skip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 txBox="1"/>
          <p:nvPr/>
        </p:nvSpPr>
        <p:spPr>
          <a:xfrm>
            <a:off x="457200" y="326259"/>
            <a:ext cx="8229600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Motivation — How  ANN works? </a:t>
            </a:r>
          </a:p>
        </p:txBody>
      </p:sp>
      <p:sp>
        <p:nvSpPr>
          <p:cNvPr id="198" name="Shape 1"/>
          <p:cNvSpPr/>
          <p:nvPr/>
        </p:nvSpPr>
        <p:spPr>
          <a:xfrm>
            <a:off x="457199" y="841247"/>
            <a:ext cx="8229602" cy="2"/>
          </a:xfrm>
          <a:prstGeom prst="line">
            <a:avLst/>
          </a:prstGeom>
          <a:ln w="1524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9" name="HNSW graph build…"/>
          <p:cNvSpPr txBox="1"/>
          <p:nvPr/>
        </p:nvSpPr>
        <p:spPr>
          <a:xfrm>
            <a:off x="455687" y="3037271"/>
            <a:ext cx="3963556" cy="1796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2100">
                <a:latin typeface="+mn-lt"/>
                <a:ea typeface="+mn-ea"/>
                <a:cs typeface="+mn-cs"/>
                <a:sym typeface="Calibri"/>
              </a:defRPr>
            </a:pPr>
            <a:r>
              <a:t>HNSW graph build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1. 데이터를 hierarchical 공간에 고정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2. 이웃을 연결할 노드를 삽입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3. 각 삽입마다 후보 탐색 →</a:t>
            </a:r>
            <a:r>
              <a:rPr b="1"/>
              <a:t> heuristic 으로 M개 선택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4. 방향 다양성 있는 그래프 완성</a:t>
            </a:r>
          </a:p>
          <a:p>
            <a:pPr>
              <a:defRPr sz="1500">
                <a:latin typeface="+mn-lt"/>
                <a:ea typeface="+mn-ea"/>
                <a:cs typeface="+mn-cs"/>
                <a:sym typeface="Calibri"/>
              </a:defRPr>
            </a:pPr>
            <a:r>
              <a:t>5. 이 위에서 greedy search</a:t>
            </a:r>
          </a:p>
        </p:txBody>
      </p:sp>
      <p:pic>
        <p:nvPicPr>
          <p:cNvPr id="20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12256" y="3055461"/>
            <a:ext cx="3949213" cy="222143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1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12360" y="544886"/>
            <a:ext cx="3949097" cy="2015684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Line"/>
          <p:cNvSpPr/>
          <p:nvPr/>
        </p:nvSpPr>
        <p:spPr>
          <a:xfrm>
            <a:off x="5083419" y="2808016"/>
            <a:ext cx="4121423" cy="2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" name="Line"/>
          <p:cNvSpPr/>
          <p:nvPr/>
        </p:nvSpPr>
        <p:spPr>
          <a:xfrm flipH="1">
            <a:off x="5078664" y="656510"/>
            <a:ext cx="2" cy="4640930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06" name="1. Navigability (Small World 구조) 어디서든 적은 hop으로 도달 가능해야 함…"/>
          <p:cNvGrpSpPr/>
          <p:nvPr/>
        </p:nvGrpSpPr>
        <p:grpSpPr>
          <a:xfrm>
            <a:off x="429299" y="1163976"/>
            <a:ext cx="4163107" cy="1615482"/>
            <a:chOff x="0" y="-1"/>
            <a:chExt cx="4163105" cy="1615481"/>
          </a:xfrm>
        </p:grpSpPr>
        <p:sp>
          <p:nvSpPr>
            <p:cNvPr id="204" name="Rectangle"/>
            <p:cNvSpPr/>
            <p:nvPr/>
          </p:nvSpPr>
          <p:spPr>
            <a:xfrm>
              <a:off x="-1" y="-2"/>
              <a:ext cx="4163107" cy="161548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defTabSz="457200">
                <a:spcBef>
                  <a:spcPts val="1200"/>
                </a:spcBef>
                <a:defRPr sz="1600"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05" name="1. Navigability (Small World 구조) 어디서든 적은 hop으로 도달 가능해야 함…"/>
            <p:cNvSpPr txBox="1"/>
            <p:nvPr/>
          </p:nvSpPr>
          <p:spPr>
            <a:xfrm>
              <a:off x="6349" y="135949"/>
              <a:ext cx="4150407" cy="13435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defTabSz="457200">
                <a:spcBef>
                  <a:spcPts val="1200"/>
                </a:spcBef>
                <a:defRPr b="1" sz="1600">
                  <a:latin typeface="+mn-lt"/>
                  <a:ea typeface="+mn-ea"/>
                  <a:cs typeface="+mn-cs"/>
                  <a:sym typeface="Calibri"/>
                </a:defRPr>
              </a:pPr>
              <a:r>
                <a:t>1. Navigability (Small World 구조)</a:t>
              </a:r>
              <a:r>
                <a:rPr b="0"/>
                <a:t> 어디서든 적은 hop으로 도달 가능해야 함</a:t>
              </a:r>
            </a:p>
            <a:p>
              <a:pPr defTabSz="457200">
                <a:spcBef>
                  <a:spcPts val="1200"/>
                </a:spcBef>
                <a:defRPr b="1" sz="1600">
                  <a:latin typeface="+mn-lt"/>
                  <a:ea typeface="+mn-ea"/>
                  <a:cs typeface="+mn-cs"/>
                  <a:sym typeface="Calibri"/>
                </a:defRPr>
              </a:pPr>
              <a:r>
                <a:t>2. Accuracy (Delaunay 근사)</a:t>
              </a:r>
              <a:r>
                <a:rPr b="0"/>
                <a:t> 진짜 nearest neighbor와 연결되어 있어야 함</a:t>
              </a:r>
            </a:p>
          </p:txBody>
        </p:sp>
      </p:grpSp>
      <p:grpSp>
        <p:nvGrpSpPr>
          <p:cNvPr id="209" name="그렇다면, 어떤 데이터들로 만들 때 방향 다양성이 생길까?"/>
          <p:cNvGrpSpPr/>
          <p:nvPr/>
        </p:nvGrpSpPr>
        <p:grpSpPr>
          <a:xfrm>
            <a:off x="347288" y="949928"/>
            <a:ext cx="4327130" cy="2920609"/>
            <a:chOff x="0" y="0"/>
            <a:chExt cx="4327129" cy="2920607"/>
          </a:xfrm>
        </p:grpSpPr>
        <p:sp>
          <p:nvSpPr>
            <p:cNvPr id="207" name="Shape"/>
            <p:cNvSpPr/>
            <p:nvPr/>
          </p:nvSpPr>
          <p:spPr>
            <a:xfrm>
              <a:off x="0" y="-1"/>
              <a:ext cx="4327130" cy="29206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48" y="0"/>
                  </a:moveTo>
                  <a:cubicBezTo>
                    <a:pt x="200" y="0"/>
                    <a:pt x="0" y="297"/>
                    <a:pt x="0" y="663"/>
                  </a:cubicBezTo>
                  <a:lnTo>
                    <a:pt x="0" y="13728"/>
                  </a:lnTo>
                  <a:cubicBezTo>
                    <a:pt x="0" y="14094"/>
                    <a:pt x="200" y="14391"/>
                    <a:pt x="448" y="14391"/>
                  </a:cubicBezTo>
                  <a:lnTo>
                    <a:pt x="16796" y="14391"/>
                  </a:lnTo>
                  <a:lnTo>
                    <a:pt x="17095" y="21600"/>
                  </a:lnTo>
                  <a:lnTo>
                    <a:pt x="17394" y="14391"/>
                  </a:lnTo>
                  <a:lnTo>
                    <a:pt x="21152" y="14391"/>
                  </a:lnTo>
                  <a:cubicBezTo>
                    <a:pt x="21400" y="14391"/>
                    <a:pt x="21600" y="14094"/>
                    <a:pt x="21600" y="13728"/>
                  </a:cubicBezTo>
                  <a:lnTo>
                    <a:pt x="21600" y="663"/>
                  </a:lnTo>
                  <a:cubicBezTo>
                    <a:pt x="21600" y="297"/>
                    <a:pt x="21400" y="0"/>
                    <a:pt x="21152" y="0"/>
                  </a:cubicBezTo>
                  <a:lnTo>
                    <a:pt x="448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457200">
                <a:spcBef>
                  <a:spcPts val="1200"/>
                </a:spcBef>
                <a:defRPr b="1" sz="1200"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08" name="그렇다면, 어떤 데이터들로 만들 때 방향 다양성이 생길까?"/>
            <p:cNvSpPr txBox="1"/>
            <p:nvPr/>
          </p:nvSpPr>
          <p:spPr>
            <a:xfrm>
              <a:off x="6350" y="1319333"/>
              <a:ext cx="4314430" cy="2819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 defTabSz="457200">
                <a:spcBef>
                  <a:spcPts val="1200"/>
                </a:spcBef>
                <a:defRPr b="1" sz="1200"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/>
              <a:r>
                <a:t> 그렇다면, 어떤 데이터들로 만들 때 방향 다양성이 생길까? 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 txBox="1"/>
          <p:nvPr/>
        </p:nvSpPr>
        <p:spPr>
          <a:xfrm>
            <a:off x="457200" y="326259"/>
            <a:ext cx="8229600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Problem — How  ANN works? </a:t>
            </a:r>
          </a:p>
        </p:txBody>
      </p:sp>
      <p:sp>
        <p:nvSpPr>
          <p:cNvPr id="212" name="Shape 1"/>
          <p:cNvSpPr/>
          <p:nvPr/>
        </p:nvSpPr>
        <p:spPr>
          <a:xfrm>
            <a:off x="457199" y="841247"/>
            <a:ext cx="8229602" cy="2"/>
          </a:xfrm>
          <a:prstGeom prst="line">
            <a:avLst/>
          </a:prstGeom>
          <a:ln w="1524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3" name="한편, HNSW 의 성능에 영향을 미치는 데이터의 특성은 이렇게 알려져있다."/>
          <p:cNvSpPr txBox="1"/>
          <p:nvPr/>
        </p:nvSpPr>
        <p:spPr>
          <a:xfrm>
            <a:off x="507852" y="1104170"/>
            <a:ext cx="6903652" cy="386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한편, HNSW 의 성능에 영향을 미치는 데이터의 특성은 이렇게 알려져있다. </a:t>
            </a:r>
          </a:p>
        </p:txBody>
      </p:sp>
      <p:sp>
        <p:nvSpPr>
          <p:cNvPr id="214" name="데이터의 Local Intrinsic Dimensionality 가 낮을 수룩,…"/>
          <p:cNvSpPr txBox="1"/>
          <p:nvPr/>
        </p:nvSpPr>
        <p:spPr>
          <a:xfrm>
            <a:off x="1727876" y="2321160"/>
            <a:ext cx="5504107" cy="682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b="1"/>
            </a:pPr>
            <a:r>
              <a:t>데이터의 Local Intrinsic Dimensionality 가 낮을 수룩, </a:t>
            </a:r>
          </a:p>
          <a:p>
            <a:pPr algn="ctr">
              <a:defRPr b="1"/>
            </a:pPr>
            <a:r>
              <a:t>HNSW 의 search recall 의 성능이 좋다.</a:t>
            </a:r>
          </a:p>
        </p:txBody>
      </p:sp>
      <p:sp>
        <p:nvSpPr>
          <p:cNvPr id="215" name="Wang, Mengzhao, et al. &quot;A Comprehensive Survey and Experimental Comparison of Graph-Based Approximate Nearest Neighbor Search.&quot; Proceedings of the VLDB Endowment, vol. 14, no. 11, 2021, pp. 1964–1978.…"/>
          <p:cNvSpPr txBox="1"/>
          <p:nvPr/>
        </p:nvSpPr>
        <p:spPr>
          <a:xfrm>
            <a:off x="5975" y="4033703"/>
            <a:ext cx="9132051" cy="1107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defTabSz="457200">
              <a:spcBef>
                <a:spcPts val="100"/>
              </a:spcBef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Wang, Mengzhao, et al.</a:t>
            </a:r>
            <a:r>
              <a:t> "A Comprehensive Survey and Experimental Comparison of Graph-Based Approximate Nearest Neighbor Search." </a:t>
            </a:r>
            <a:r>
              <a:rPr i="1"/>
              <a:t>Proceedings of the VLDB Endowment</a:t>
            </a:r>
            <a:r>
              <a:t>, vol. 14, no. 11, 2021, pp. 1964–1978.</a:t>
            </a:r>
          </a:p>
          <a:p>
            <a:pPr defTabSz="457200">
              <a:spcBef>
                <a:spcPts val="100"/>
              </a:spcBef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Fu, Cong, et al.</a:t>
            </a:r>
            <a:r>
              <a:t> "Fast Approximate Nearest Neighbor Search with the Navigating Spreading-Out Graph." </a:t>
            </a:r>
            <a:r>
              <a:rPr i="1"/>
              <a:t>Proceedings of the VLDB Endowment</a:t>
            </a:r>
            <a:r>
              <a:t>, vol. 12, no. 5, 2019, pp. 461–474.</a:t>
            </a:r>
          </a:p>
          <a:p>
            <a:pPr defTabSz="457200">
              <a:spcBef>
                <a:spcPts val="100"/>
              </a:spcBef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Zhao, Xi, et al.</a:t>
            </a:r>
            <a:r>
              <a:t> "Towards Efficient Index Construction and Approximate Nearest Neighbor Search in High-Dimensional Spaces." </a:t>
            </a:r>
            <a:r>
              <a:rPr i="1"/>
              <a:t>Proceedings of the VLDB Endowment</a:t>
            </a:r>
            <a:r>
              <a:t>, vol. 16, no. 8, 2023, pp. 1979–1991.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 txBox="1"/>
          <p:nvPr/>
        </p:nvSpPr>
        <p:spPr>
          <a:xfrm>
            <a:off x="457200" y="326259"/>
            <a:ext cx="8229600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Problem — Does FEN control ID? </a:t>
            </a:r>
          </a:p>
        </p:txBody>
      </p:sp>
      <p:sp>
        <p:nvSpPr>
          <p:cNvPr id="218" name="Shape 1"/>
          <p:cNvSpPr/>
          <p:nvPr/>
        </p:nvSpPr>
        <p:spPr>
          <a:xfrm>
            <a:off x="457199" y="841247"/>
            <a:ext cx="8229602" cy="2"/>
          </a:xfrm>
          <a:prstGeom prst="line">
            <a:avLst/>
          </a:prstGeom>
          <a:ln w="1524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19" name="Screenshot 2026-04-09 at 3.10.41 AM.png" descr="Screenshot 2026-04-09 at 3.10.41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2951" y="1115918"/>
            <a:ext cx="2649135" cy="1388867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DeepCoFFEA 는 Triplet Loss 로 임베딩 공간을 학습시킴.…"/>
          <p:cNvSpPr txBox="1"/>
          <p:nvPr/>
        </p:nvSpPr>
        <p:spPr>
          <a:xfrm>
            <a:off x="3446703" y="1565758"/>
            <a:ext cx="5065163" cy="67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t>DeepCoFFEA 는 Triplet Loss 로 임베딩 공간을 학습시킴.</a:t>
            </a:r>
          </a:p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t>그러나, Triplet loss 는 ID 를 </a:t>
            </a:r>
            <a:r>
              <a:rPr b="1"/>
              <a:t>명시적으로 제어하지 않음.</a:t>
            </a:r>
          </a:p>
        </p:txBody>
      </p:sp>
      <p:sp>
        <p:nvSpPr>
          <p:cNvPr id="221" name="물론, 학습이 잘 된 경우 자연스럽게 저차원 구조에 정리될 수는 있으나,…"/>
          <p:cNvSpPr txBox="1"/>
          <p:nvPr/>
        </p:nvSpPr>
        <p:spPr>
          <a:xfrm>
            <a:off x="1477866" y="3382213"/>
            <a:ext cx="6466490" cy="682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/>
            <a:r>
              <a:t>물론, 학습이 잘 된 경우 자연스럽게 저차원 구조에 정리될 수는 있으나, </a:t>
            </a:r>
          </a:p>
          <a:p>
            <a:pPr algn="ctr"/>
            <a:r>
              <a:t>직접적으로 통제하지 않음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 txBox="1"/>
          <p:nvPr/>
        </p:nvSpPr>
        <p:spPr>
          <a:xfrm>
            <a:off x="457200" y="326259"/>
            <a:ext cx="8229600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Hypothesis &amp; proposed methodology</a:t>
            </a:r>
          </a:p>
        </p:txBody>
      </p:sp>
      <p:sp>
        <p:nvSpPr>
          <p:cNvPr id="224" name="임베딩 훈련 시, 명시적으로 ANN 성능을  염두에 두고 데이터의 LID 가 낮아지는 방향으로 훈련시켜야한다."/>
          <p:cNvSpPr txBox="1"/>
          <p:nvPr/>
        </p:nvSpPr>
        <p:spPr>
          <a:xfrm>
            <a:off x="771372" y="1211230"/>
            <a:ext cx="7249426" cy="682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/>
            <a:r>
              <a:t>임베딩 훈련 시, 명시적으로 ANN 성능을  염두에 두고 데이터의 LID 가 낮아지는 방향으로 훈련시켜야한다. </a:t>
            </a:r>
          </a:p>
        </p:txBody>
      </p:sp>
      <p:sp>
        <p:nvSpPr>
          <p:cNvPr id="225" name="Method 1: 데이터가 너무 퍼지지 않도록 제한하는 항 추가…"/>
          <p:cNvSpPr txBox="1"/>
          <p:nvPr/>
        </p:nvSpPr>
        <p:spPr>
          <a:xfrm>
            <a:off x="1620135" y="2425132"/>
            <a:ext cx="5322409" cy="961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Method 1: 데이터가 너무 퍼지지 않도록 제한하는 항 추가</a:t>
            </a:r>
          </a:p>
          <a:p>
            <a:pPr/>
          </a:p>
          <a:p>
            <a:pPr/>
            <a:r>
              <a:t>Method 2: 특정한 방향으로만 퍼지도록 강제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Expected contributions"/>
          <p:cNvSpPr txBox="1"/>
          <p:nvPr/>
        </p:nvSpPr>
        <p:spPr>
          <a:xfrm>
            <a:off x="378516" y="316968"/>
            <a:ext cx="2707923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/>
            </a:lvl1pPr>
          </a:lstStyle>
          <a:p>
            <a:pPr/>
            <a:r>
              <a:t>Expected contributions </a:t>
            </a:r>
          </a:p>
        </p:txBody>
      </p:sp>
      <p:sp>
        <p:nvSpPr>
          <p:cNvPr id="228" name="DCF 의 FEN 의 임베딩 네트워크 최적화…"/>
          <p:cNvSpPr txBox="1"/>
          <p:nvPr/>
        </p:nvSpPr>
        <p:spPr>
          <a:xfrm>
            <a:off x="1219195" y="1584453"/>
            <a:ext cx="4170064" cy="1077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marL="180473" indent="-180473">
              <a:spcBef>
                <a:spcPts val="300"/>
              </a:spcBef>
              <a:buSzPct val="100000"/>
              <a:buChar char="-"/>
              <a:defRPr sz="1900"/>
            </a:pPr>
            <a:r>
              <a:t>DCF 의 FEN 의 임베딩 네트워크 최적화</a:t>
            </a:r>
          </a:p>
          <a:p>
            <a:pPr marL="180473" indent="-180473">
              <a:spcBef>
                <a:spcPts val="300"/>
              </a:spcBef>
              <a:buSzPct val="100000"/>
              <a:buChar char="-"/>
              <a:defRPr sz="1900"/>
            </a:pPr>
            <a:r>
              <a:t>더욱 robust 한 공격 시나리오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hank you, any questions?"/>
          <p:cNvSpPr txBox="1"/>
          <p:nvPr/>
        </p:nvSpPr>
        <p:spPr>
          <a:xfrm>
            <a:off x="2784151" y="2295797"/>
            <a:ext cx="3114447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/>
            </a:lvl1pPr>
          </a:lstStyle>
          <a:p>
            <a:pPr/>
            <a:r>
              <a:t>Thank you, any questions?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 0"/>
          <p:cNvSpPr txBox="1"/>
          <p:nvPr/>
        </p:nvSpPr>
        <p:spPr>
          <a:xfrm>
            <a:off x="457200" y="326259"/>
            <a:ext cx="8229600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Hypothesis — ANN-aware deep metric learning</a:t>
            </a:r>
          </a:p>
        </p:txBody>
      </p:sp>
      <p:sp>
        <p:nvSpPr>
          <p:cNvPr id="233" name="Shape 1"/>
          <p:cNvSpPr/>
          <p:nvPr/>
        </p:nvSpPr>
        <p:spPr>
          <a:xfrm>
            <a:off x="457199" y="841247"/>
            <a:ext cx="8229602" cy="2"/>
          </a:xfrm>
          <a:prstGeom prst="line">
            <a:avLst/>
          </a:prstGeom>
          <a:ln w="1524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4" name="문제: 현재 DCF’s FEN 의 Tripet Loss 는 이 ID 를 직접 제어하지 않음.…"/>
          <p:cNvSpPr txBox="1"/>
          <p:nvPr/>
        </p:nvSpPr>
        <p:spPr>
          <a:xfrm>
            <a:off x="604982" y="1428257"/>
            <a:ext cx="7934036" cy="2810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000">
                <a:latin typeface="+mn-lt"/>
                <a:ea typeface="+mn-ea"/>
                <a:cs typeface="+mn-cs"/>
                <a:sym typeface="Calibri"/>
              </a:defRPr>
            </a:pPr>
            <a:r>
              <a:t>문제: 현재 DCF’s FEN 의 Tripet Loss 는 이 ID 를 직접 제어하지 않음. </a:t>
            </a:r>
          </a:p>
          <a:p>
            <a:pPr>
              <a:defRPr sz="2000">
                <a:latin typeface="+mn-lt"/>
                <a:ea typeface="+mn-ea"/>
                <a:cs typeface="+mn-cs"/>
                <a:sym typeface="Calibri"/>
              </a:defRPr>
            </a:pPr>
            <a:r>
              <a:t>그런데 ID 는 ANN recall 에 영향을 미친다. </a:t>
            </a:r>
          </a:p>
          <a:p>
            <a:pPr>
              <a:defRPr sz="20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defRPr sz="2000">
                <a:latin typeface="+mn-lt"/>
                <a:ea typeface="+mn-ea"/>
                <a:cs typeface="+mn-cs"/>
                <a:sym typeface="Calibri"/>
              </a:defRPr>
            </a:pPr>
            <a:r>
              <a:t>가설: ANN-aware deep metric learning 을 하면, 즉, 임베딩 공간을 학습할 때 ID 를 낮추도록 하는 metric learning loss 를 설계하면  ANN Search 의 Recall 을 올릴 수 있을 것이다</a:t>
            </a:r>
          </a:p>
          <a:p>
            <a:pPr>
              <a:defRPr sz="20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defRPr sz="2000">
                <a:latin typeface="+mn-lt"/>
                <a:ea typeface="+mn-ea"/>
                <a:cs typeface="+mn-cs"/>
                <a:sym typeface="Calibri"/>
              </a:defRPr>
            </a:pPr>
            <a:r>
              <a:t>즉, 더 robust 한 공격.</a:t>
            </a:r>
          </a:p>
        </p:txBody>
      </p:sp>
      <p:sp>
        <p:nvSpPr>
          <p:cNvPr id="235" name="대규모 트래픽을 빠르게 match 해야하는 상황에서 ANN Search 를 쓰는 것은 불가피함.…"/>
          <p:cNvSpPr txBox="1"/>
          <p:nvPr/>
        </p:nvSpPr>
        <p:spPr>
          <a:xfrm>
            <a:off x="632153" y="3581659"/>
            <a:ext cx="7698617" cy="1284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t>대규모 트래픽을 빠르게 match 해야하는 상황에서 ANN Search 를 쓰는 것은 불가피함.</a:t>
            </a:r>
          </a:p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t>그리고, ANN Search Recall 을 높이려면 그 데이터는 ID 가 낮아야함.</a:t>
            </a:r>
          </a:p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t>그런데, 현재 DCF’s FEN 의 Tripet Loss 는 이 ID 를 직접 제어하지 않음. </a:t>
            </a:r>
          </a:p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