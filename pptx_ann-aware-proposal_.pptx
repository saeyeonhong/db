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" name="Shape 2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xfrm>
            <a:off x="6294578" y="4643111"/>
            <a:ext cx="258623" cy="248303"/>
          </a:xfrm>
          <a:prstGeom prst="rect">
            <a:avLst/>
          </a:prstGeom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41797" y="149789"/>
            <a:ext cx="7547700" cy="61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40372" y="1212927"/>
            <a:ext cx="7548903" cy="3263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7600928" y="4675506"/>
            <a:ext cx="208387" cy="191812"/>
          </a:xfrm>
          <a:prstGeom prst="rect">
            <a:avLst/>
          </a:prstGeom>
          <a:ln w="12700">
            <a:miter lim="400000"/>
          </a:ln>
        </p:spPr>
        <p:txBody>
          <a:bodyPr wrap="none" lIns="34275" tIns="34275" rIns="34275" bIns="34275" anchor="ctr">
            <a:normAutofit fontScale="100000" lnSpcReduction="0"/>
          </a:bodyPr>
          <a:lstStyle>
            <a:lvl1pPr algn="r">
              <a:defRPr sz="900">
                <a:solidFill>
                  <a:srgbClr val="8C8E9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457200" marR="0" indent="-361950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>
          <a:srgbClr val="171616"/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rgbClr val="171616"/>
          </a:solidFill>
          <a:uFillTx/>
          <a:latin typeface="Arial"/>
          <a:ea typeface="Arial"/>
          <a:cs typeface="Arial"/>
          <a:sym typeface="Arial"/>
        </a:defRPr>
      </a:lvl1pPr>
      <a:lvl2pPr marL="1012370" marR="0" indent="-440871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>
          <a:srgbClr val="171616"/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rgbClr val="171616"/>
          </a:solidFill>
          <a:uFillTx/>
          <a:latin typeface="Arial"/>
          <a:ea typeface="Arial"/>
          <a:cs typeface="Arial"/>
          <a:sym typeface="Arial"/>
        </a:defRPr>
      </a:lvl2pPr>
      <a:lvl3pPr marL="1464127" marR="0" indent="-416377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>
          <a:srgbClr val="171616"/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rgbClr val="171616"/>
          </a:solidFill>
          <a:uFillTx/>
          <a:latin typeface="Arial"/>
          <a:ea typeface="Arial"/>
          <a:cs typeface="Arial"/>
          <a:sym typeface="Arial"/>
        </a:defRPr>
      </a:lvl3pPr>
      <a:lvl4pPr marL="1919514" marR="0" indent="-408214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>
          <a:srgbClr val="171616"/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rgbClr val="171616"/>
          </a:solidFill>
          <a:uFillTx/>
          <a:latin typeface="Arial"/>
          <a:ea typeface="Arial"/>
          <a:cs typeface="Arial"/>
          <a:sym typeface="Arial"/>
        </a:defRPr>
      </a:lvl4pPr>
      <a:lvl5pPr marL="2376714" marR="0" indent="-408214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>
          <a:srgbClr val="171616"/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rgbClr val="171616"/>
          </a:solidFill>
          <a:uFillTx/>
          <a:latin typeface="Arial"/>
          <a:ea typeface="Arial"/>
          <a:cs typeface="Arial"/>
          <a:sym typeface="Arial"/>
        </a:defRPr>
      </a:lvl5pPr>
      <a:lvl6pPr marL="2491739" marR="0" indent="-205739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>
          <a:srgbClr val="171616"/>
        </a:buClr>
        <a:buSzPct val="100000"/>
        <a:buFont typeface="Arial"/>
        <a:buChar char="•"/>
        <a:tabLst/>
        <a:defRPr b="0" baseline="0" cap="none" i="0" spc="0" strike="noStrike" sz="1800" u="none">
          <a:solidFill>
            <a:srgbClr val="171616"/>
          </a:solidFill>
          <a:uFillTx/>
          <a:latin typeface="Arial"/>
          <a:ea typeface="Arial"/>
          <a:cs typeface="Arial"/>
          <a:sym typeface="Arial"/>
        </a:defRPr>
      </a:lvl6pPr>
      <a:lvl7pPr marL="2948939" marR="0" indent="-205739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>
          <a:srgbClr val="171616"/>
        </a:buClr>
        <a:buSzPct val="100000"/>
        <a:buFont typeface="Arial"/>
        <a:buChar char="•"/>
        <a:tabLst/>
        <a:defRPr b="0" baseline="0" cap="none" i="0" spc="0" strike="noStrike" sz="1800" u="none">
          <a:solidFill>
            <a:srgbClr val="171616"/>
          </a:solidFill>
          <a:uFillTx/>
          <a:latin typeface="Arial"/>
          <a:ea typeface="Arial"/>
          <a:cs typeface="Arial"/>
          <a:sym typeface="Arial"/>
        </a:defRPr>
      </a:lvl7pPr>
      <a:lvl8pPr marL="3406139" marR="0" indent="-205739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>
          <a:srgbClr val="171616"/>
        </a:buClr>
        <a:buSzPct val="100000"/>
        <a:buFont typeface="Arial"/>
        <a:buChar char="•"/>
        <a:tabLst/>
        <a:defRPr b="0" baseline="0" cap="none" i="0" spc="0" strike="noStrike" sz="1800" u="none">
          <a:solidFill>
            <a:srgbClr val="171616"/>
          </a:solidFill>
          <a:uFillTx/>
          <a:latin typeface="Arial"/>
          <a:ea typeface="Arial"/>
          <a:cs typeface="Arial"/>
          <a:sym typeface="Arial"/>
        </a:defRPr>
      </a:lvl8pPr>
      <a:lvl9pPr marL="3863339" marR="0" indent="-205739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>
          <a:srgbClr val="171616"/>
        </a:buClr>
        <a:buSzPct val="100000"/>
        <a:buFont typeface="Arial"/>
        <a:buChar char="•"/>
        <a:tabLst/>
        <a:defRPr b="0" baseline="0" cap="none" i="0" spc="0" strike="noStrike" sz="1800" u="none">
          <a:solidFill>
            <a:srgbClr val="171616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en.wikipedia.org/wiki/Overlay_network" TargetMode="External"/><Relationship Id="rId6" Type="http://schemas.openxmlformats.org/officeDocument/2006/relationships/hyperlink" Target="https://en.wikipedia.org/wiki/Anonymity" TargetMode="Externa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i.org/10.1145/3243734.3243824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tif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tif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tif"/><Relationship Id="rId3" Type="http://schemas.openxmlformats.org/officeDocument/2006/relationships/image" Target="../media/image4.tif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tif"/><Relationship Id="rId3" Type="http://schemas.openxmlformats.org/officeDocument/2006/relationships/image" Target="../media/image4.tif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tif"/><Relationship Id="rId3" Type="http://schemas.openxmlformats.org/officeDocument/2006/relationships/image" Target="../media/image4.tif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 txBox="1"/>
          <p:nvPr/>
        </p:nvSpPr>
        <p:spPr>
          <a:xfrm>
            <a:off x="457200" y="1525095"/>
            <a:ext cx="8229600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5555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enhance-pairwise</a:t>
            </a:r>
          </a:p>
        </p:txBody>
      </p:sp>
      <p:sp>
        <p:nvSpPr>
          <p:cNvPr id="30" name="Text 1"/>
          <p:cNvSpPr txBox="1"/>
          <p:nvPr/>
        </p:nvSpPr>
        <p:spPr>
          <a:xfrm>
            <a:off x="457200" y="2190008"/>
            <a:ext cx="8229600" cy="923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3300">
                <a:latin typeface="+mj-lt"/>
                <a:ea typeface="+mj-ea"/>
                <a:cs typeface="+mj-cs"/>
                <a:sym typeface="Calibri"/>
              </a:defRPr>
            </a:pPr>
            <a:r>
              <a:t>ANN(Approximate Nearest Neighbors)-Aware</a:t>
            </a:r>
          </a:p>
          <a:p>
            <a:pPr>
              <a:defRPr b="1" sz="3300">
                <a:latin typeface="+mj-lt"/>
                <a:ea typeface="+mj-ea"/>
                <a:cs typeface="+mj-cs"/>
                <a:sym typeface="Calibri"/>
              </a:defRPr>
            </a:pPr>
            <a:r>
              <a:t>Deep Metric Learning</a:t>
            </a:r>
          </a:p>
        </p:txBody>
      </p:sp>
      <p:sp>
        <p:nvSpPr>
          <p:cNvPr id="31" name="Text 2"/>
          <p:cNvSpPr txBox="1"/>
          <p:nvPr/>
        </p:nvSpPr>
        <p:spPr>
          <a:xfrm>
            <a:off x="457200" y="3598743"/>
            <a:ext cx="822960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5555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Research Proposal</a:t>
            </a:r>
          </a:p>
        </p:txBody>
      </p:sp>
      <p:sp>
        <p:nvSpPr>
          <p:cNvPr id="32" name="Text 3"/>
          <p:cNvSpPr txBox="1"/>
          <p:nvPr/>
        </p:nvSpPr>
        <p:spPr>
          <a:xfrm>
            <a:off x="457200" y="4557198"/>
            <a:ext cx="822960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555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April 9, 2026</a:t>
            </a:r>
          </a:p>
        </p:txBody>
      </p:sp>
      <p:sp>
        <p:nvSpPr>
          <p:cNvPr id="33" name="Shape 4"/>
          <p:cNvSpPr/>
          <p:nvPr/>
        </p:nvSpPr>
        <p:spPr>
          <a:xfrm>
            <a:off x="457200" y="4434840"/>
            <a:ext cx="8229601" cy="1"/>
          </a:xfrm>
          <a:prstGeom prst="line">
            <a:avLst/>
          </a:prstGeom>
          <a:ln w="10160">
            <a:solidFill>
              <a:srgbClr val="CCCCCC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37698" y="2444624"/>
            <a:ext cx="2896900" cy="2485541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Text 0"/>
          <p:cNvSpPr txBox="1"/>
          <p:nvPr/>
        </p:nvSpPr>
        <p:spPr>
          <a:xfrm>
            <a:off x="457200" y="326259"/>
            <a:ext cx="8229600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Introduction — End-to-End Traffic Correlation Attack</a:t>
            </a:r>
          </a:p>
        </p:txBody>
      </p:sp>
      <p:sp>
        <p:nvSpPr>
          <p:cNvPr id="37" name="Shape 1"/>
          <p:cNvSpPr/>
          <p:nvPr/>
        </p:nvSpPr>
        <p:spPr>
          <a:xfrm>
            <a:off x="457200" y="841247"/>
            <a:ext cx="8229600" cy="1"/>
          </a:xfrm>
          <a:prstGeom prst="line">
            <a:avLst/>
          </a:prstGeom>
          <a:ln w="1524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" name="Shape 7"/>
          <p:cNvSpPr/>
          <p:nvPr/>
        </p:nvSpPr>
        <p:spPr>
          <a:xfrm flipH="1">
            <a:off x="4663439" y="1005838"/>
            <a:ext cx="3" cy="3474724"/>
          </a:xfrm>
          <a:prstGeom prst="line">
            <a:avLst/>
          </a:prstGeom>
          <a:ln w="10160">
            <a:solidFill>
              <a:srgbClr val="CCCC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9" name="Screenshot 2026-03-05 at 8.03.09 AM.pngGoogle Shape;497;p63" descr="Screenshot 2026-03-05 at 8.03.09 AM.pngGoogle Shape;497;p6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850841" y="1800891"/>
            <a:ext cx="3917899" cy="2268860"/>
          </a:xfrm>
          <a:prstGeom prst="rect">
            <a:avLst/>
          </a:prstGeom>
          <a:ln w="12700">
            <a:miter lim="400000"/>
          </a:ln>
        </p:spPr>
      </p:pic>
      <p:sp>
        <p:nvSpPr>
          <p:cNvPr id="40" name="End-to-End Tor Traffic Correlation Attack"/>
          <p:cNvSpPr txBox="1"/>
          <p:nvPr/>
        </p:nvSpPr>
        <p:spPr>
          <a:xfrm>
            <a:off x="4761174" y="1159514"/>
            <a:ext cx="3917897" cy="33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End-to-End Tor Traffic Correlation Attack</a:t>
            </a:r>
          </a:p>
        </p:txBody>
      </p:sp>
      <p:pic>
        <p:nvPicPr>
          <p:cNvPr id="41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80482" y="1800891"/>
            <a:ext cx="1690778" cy="1016677"/>
          </a:xfrm>
          <a:prstGeom prst="rect">
            <a:avLst/>
          </a:prstGeom>
          <a:ln w="12700">
            <a:miter lim="400000"/>
          </a:ln>
        </p:spPr>
      </p:pic>
      <p:sp>
        <p:nvSpPr>
          <p:cNvPr id="42" name="Tor: a free overlay network for enabling…"/>
          <p:cNvSpPr txBox="1"/>
          <p:nvPr/>
        </p:nvSpPr>
        <p:spPr>
          <a:xfrm>
            <a:off x="430199" y="1159514"/>
            <a:ext cx="3854050" cy="6251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>
                <a:latin typeface="+mj-lt"/>
                <a:ea typeface="+mj-ea"/>
                <a:cs typeface="+mj-cs"/>
                <a:sym typeface="Calibri"/>
              </a:defRPr>
            </a:pPr>
            <a:r>
              <a:t>Tor: </a:t>
            </a:r>
            <a:r>
              <a:rPr>
                <a:solidFill>
                  <a:srgbClr val="202122"/>
                </a:solidFill>
              </a:rPr>
              <a:t>a free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 invalidUrl="" action="" tgtFrame="" tooltip="" history="1" highlightClick="0" endSnd="0"/>
              </a:rPr>
              <a:t>overlay network</a:t>
            </a:r>
            <a:r>
              <a:rPr>
                <a:solidFill>
                  <a:srgbClr val="202122"/>
                </a:solidFill>
              </a:rPr>
              <a:t> for enabling</a:t>
            </a:r>
            <a:endParaRPr>
              <a:solidFill>
                <a:srgbClr val="202122"/>
              </a:solidFill>
            </a:endParaRPr>
          </a:p>
          <a:p>
            <a:pPr>
              <a:defRPr b="1">
                <a:solidFill>
                  <a:srgbClr val="20212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6" invalidUrl="" action="" tgtFrame="" tooltip="" history="1" highlightClick="0" endSnd="0"/>
              </a:rPr>
              <a:t>anonymous communication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558;p65"/>
          <p:cNvSpPr txBox="1"/>
          <p:nvPr>
            <p:ph type="title"/>
          </p:nvPr>
        </p:nvSpPr>
        <p:spPr>
          <a:xfrm>
            <a:off x="131098" y="197267"/>
            <a:ext cx="8330404" cy="611704"/>
          </a:xfrm>
          <a:prstGeom prst="rect">
            <a:avLst/>
          </a:prstGeom>
        </p:spPr>
        <p:txBody>
          <a:bodyPr/>
          <a:lstStyle>
            <a:lvl1pPr>
              <a:defRPr b="1" sz="3000">
                <a:solidFill>
                  <a:srgbClr val="00462A"/>
                </a:solidFill>
                <a:latin typeface="IBM Plex Sans KR"/>
                <a:ea typeface="IBM Plex Sans KR"/>
                <a:cs typeface="IBM Plex Sans KR"/>
                <a:sym typeface="IBM Plex Sans KR"/>
              </a:defRPr>
            </a:lvl1pPr>
          </a:lstStyle>
          <a:p>
            <a:pPr/>
            <a:r>
              <a:t>Introduction </a:t>
            </a:r>
          </a:p>
        </p:txBody>
      </p:sp>
      <p:sp>
        <p:nvSpPr>
          <p:cNvPr id="45" name="Google Shape;559;p65"/>
          <p:cNvSpPr txBox="1"/>
          <p:nvPr/>
        </p:nvSpPr>
        <p:spPr>
          <a:xfrm>
            <a:off x="134755" y="878339"/>
            <a:ext cx="4936800" cy="1723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3" tIns="91423" rIns="91423" bIns="91423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defRPr b="1" sz="1500">
                <a:latin typeface="Arial"/>
                <a:ea typeface="Arial"/>
                <a:cs typeface="Arial"/>
                <a:sym typeface="Arial"/>
              </a:defRPr>
            </a:pPr>
            <a:r>
              <a:t>Pairwise Correlation as Binary Classification</a:t>
            </a:r>
          </a:p>
          <a:p>
            <a:pPr marL="457200" indent="-32385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SzPts val="1500"/>
              <a:buFont typeface="Arial"/>
              <a:buChar char="●"/>
              <a:defRPr i="1" sz="1500">
                <a:latin typeface="Arial"/>
                <a:ea typeface="Arial"/>
                <a:cs typeface="Arial"/>
                <a:sym typeface="Arial"/>
              </a:defRPr>
            </a:pPr>
            <a:r>
              <a:t>n</a:t>
            </a:r>
            <a:r>
              <a:rPr i="0"/>
              <a:t> inflows × </a:t>
            </a:r>
            <a:r>
              <a:t>n</a:t>
            </a:r>
            <a:r>
              <a:rPr i="0"/>
              <a:t> outflows → </a:t>
            </a:r>
            <a:r>
              <a:t>n²</a:t>
            </a:r>
            <a:r>
              <a:rPr i="0"/>
              <a:t> candidate pairs</a:t>
            </a:r>
          </a:p>
          <a:p>
            <a:pPr marL="457200" indent="-323850">
              <a:lnSpc>
                <a:spcPct val="115000"/>
              </a:lnSpc>
              <a:buClr>
                <a:srgbClr val="000000"/>
              </a:buClr>
              <a:buSzPts val="1500"/>
              <a:buFont typeface="Arial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pPr>
            <a:r>
              <a:t>Each pair is scored via a similarity metric</a:t>
            </a:r>
          </a:p>
          <a:p>
            <a:pPr marL="457200" indent="-323850">
              <a:lnSpc>
                <a:spcPct val="115000"/>
              </a:lnSpc>
              <a:buClr>
                <a:srgbClr val="000000"/>
              </a:buClr>
              <a:buSzPts val="1500"/>
              <a:buFont typeface="Arial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pPr>
            <a:r>
              <a:t>Threshold decision: correlated vs. not correlated</a:t>
            </a:r>
            <a:endParaRPr sz="2100"/>
          </a:p>
          <a:p>
            <a:pPr>
              <a:lnSpc>
                <a:spcPct val="115000"/>
              </a:lnSpc>
              <a:spcBef>
                <a:spcPts val="1200"/>
              </a:spcBef>
              <a:defRPr sz="1700">
                <a:latin typeface="Arial"/>
                <a:ea typeface="Arial"/>
                <a:cs typeface="Arial"/>
                <a:sym typeface="Arial"/>
              </a:defRPr>
            </a:pPr>
            <a:r>
              <a:t>	</a:t>
            </a:r>
          </a:p>
        </p:txBody>
      </p:sp>
      <p:grpSp>
        <p:nvGrpSpPr>
          <p:cNvPr id="60" name="Google Shape;560;p65"/>
          <p:cNvGrpSpPr/>
          <p:nvPr/>
        </p:nvGrpSpPr>
        <p:grpSpPr>
          <a:xfrm>
            <a:off x="5387610" y="2029122"/>
            <a:ext cx="314707" cy="1860382"/>
            <a:chOff x="-2" y="0"/>
            <a:chExt cx="314706" cy="1860380"/>
          </a:xfrm>
        </p:grpSpPr>
        <p:grpSp>
          <p:nvGrpSpPr>
            <p:cNvPr id="52" name="Google Shape;561;p65"/>
            <p:cNvGrpSpPr/>
            <p:nvPr/>
          </p:nvGrpSpPr>
          <p:grpSpPr>
            <a:xfrm>
              <a:off x="-3" y="-1"/>
              <a:ext cx="314707" cy="904031"/>
              <a:chOff x="-1" y="0"/>
              <a:chExt cx="314706" cy="904029"/>
            </a:xfrm>
          </p:grpSpPr>
          <p:grpSp>
            <p:nvGrpSpPr>
              <p:cNvPr id="48" name="Google Shape;562;p65"/>
              <p:cNvGrpSpPr/>
              <p:nvPr/>
            </p:nvGrpSpPr>
            <p:grpSpPr>
              <a:xfrm>
                <a:off x="-2" y="0"/>
                <a:ext cx="314707" cy="428304"/>
                <a:chOff x="0" y="0"/>
                <a:chExt cx="314706" cy="428303"/>
              </a:xfrm>
            </p:grpSpPr>
            <p:sp>
              <p:nvSpPr>
                <p:cNvPr id="46" name="Google Shape;563;p65"/>
                <p:cNvSpPr/>
                <p:nvPr/>
              </p:nvSpPr>
              <p:spPr>
                <a:xfrm>
                  <a:off x="-1" y="0"/>
                  <a:ext cx="314707" cy="192303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7" name="Google Shape;564;p65"/>
                <p:cNvSpPr/>
                <p:nvPr/>
              </p:nvSpPr>
              <p:spPr>
                <a:xfrm>
                  <a:off x="-1" y="236001"/>
                  <a:ext cx="314707" cy="192303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  <p:grpSp>
            <p:nvGrpSpPr>
              <p:cNvPr id="51" name="Google Shape;565;p65"/>
              <p:cNvGrpSpPr/>
              <p:nvPr/>
            </p:nvGrpSpPr>
            <p:grpSpPr>
              <a:xfrm>
                <a:off x="-2" y="475726"/>
                <a:ext cx="314707" cy="428305"/>
                <a:chOff x="0" y="0"/>
                <a:chExt cx="314706" cy="428303"/>
              </a:xfrm>
            </p:grpSpPr>
            <p:sp>
              <p:nvSpPr>
                <p:cNvPr id="49" name="Google Shape;566;p65"/>
                <p:cNvSpPr/>
                <p:nvPr/>
              </p:nvSpPr>
              <p:spPr>
                <a:xfrm>
                  <a:off x="-1" y="0"/>
                  <a:ext cx="314707" cy="192303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50" name="Google Shape;567;p65"/>
                <p:cNvSpPr/>
                <p:nvPr/>
              </p:nvSpPr>
              <p:spPr>
                <a:xfrm>
                  <a:off x="-1" y="236001"/>
                  <a:ext cx="314707" cy="192303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</p:grpSp>
        <p:grpSp>
          <p:nvGrpSpPr>
            <p:cNvPr id="59" name="Google Shape;568;p65"/>
            <p:cNvGrpSpPr/>
            <p:nvPr/>
          </p:nvGrpSpPr>
          <p:grpSpPr>
            <a:xfrm>
              <a:off x="-3" y="956349"/>
              <a:ext cx="314707" cy="904031"/>
              <a:chOff x="-1" y="0"/>
              <a:chExt cx="314706" cy="904029"/>
            </a:xfrm>
          </p:grpSpPr>
          <p:grpSp>
            <p:nvGrpSpPr>
              <p:cNvPr id="55" name="Google Shape;569;p65"/>
              <p:cNvGrpSpPr/>
              <p:nvPr/>
            </p:nvGrpSpPr>
            <p:grpSpPr>
              <a:xfrm>
                <a:off x="-2" y="0"/>
                <a:ext cx="314707" cy="428304"/>
                <a:chOff x="0" y="0"/>
                <a:chExt cx="314706" cy="428303"/>
              </a:xfrm>
            </p:grpSpPr>
            <p:sp>
              <p:nvSpPr>
                <p:cNvPr id="53" name="Google Shape;570;p65"/>
                <p:cNvSpPr/>
                <p:nvPr/>
              </p:nvSpPr>
              <p:spPr>
                <a:xfrm>
                  <a:off x="-1" y="0"/>
                  <a:ext cx="314707" cy="192303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54" name="Google Shape;571;p65"/>
                <p:cNvSpPr/>
                <p:nvPr/>
              </p:nvSpPr>
              <p:spPr>
                <a:xfrm>
                  <a:off x="-1" y="236001"/>
                  <a:ext cx="314707" cy="192303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  <p:grpSp>
            <p:nvGrpSpPr>
              <p:cNvPr id="58" name="Google Shape;572;p65"/>
              <p:cNvGrpSpPr/>
              <p:nvPr/>
            </p:nvGrpSpPr>
            <p:grpSpPr>
              <a:xfrm>
                <a:off x="-2" y="475726"/>
                <a:ext cx="314707" cy="428305"/>
                <a:chOff x="0" y="0"/>
                <a:chExt cx="314706" cy="428303"/>
              </a:xfrm>
            </p:grpSpPr>
            <p:sp>
              <p:nvSpPr>
                <p:cNvPr id="56" name="Google Shape;573;p65"/>
                <p:cNvSpPr/>
                <p:nvPr/>
              </p:nvSpPr>
              <p:spPr>
                <a:xfrm>
                  <a:off x="-1" y="0"/>
                  <a:ext cx="314707" cy="192303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57" name="Google Shape;574;p65"/>
                <p:cNvSpPr/>
                <p:nvPr/>
              </p:nvSpPr>
              <p:spPr>
                <a:xfrm>
                  <a:off x="-1" y="236001"/>
                  <a:ext cx="314707" cy="192303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</p:grpSp>
      </p:grpSp>
      <p:grpSp>
        <p:nvGrpSpPr>
          <p:cNvPr id="75" name="Google Shape;575;p65"/>
          <p:cNvGrpSpPr/>
          <p:nvPr/>
        </p:nvGrpSpPr>
        <p:grpSpPr>
          <a:xfrm>
            <a:off x="7994384" y="2029110"/>
            <a:ext cx="314709" cy="1860382"/>
            <a:chOff x="-2" y="0"/>
            <a:chExt cx="314707" cy="1860380"/>
          </a:xfrm>
        </p:grpSpPr>
        <p:grpSp>
          <p:nvGrpSpPr>
            <p:cNvPr id="67" name="Google Shape;576;p65"/>
            <p:cNvGrpSpPr/>
            <p:nvPr/>
          </p:nvGrpSpPr>
          <p:grpSpPr>
            <a:xfrm>
              <a:off x="-3" y="-1"/>
              <a:ext cx="314709" cy="904031"/>
              <a:chOff x="-1" y="0"/>
              <a:chExt cx="314707" cy="904029"/>
            </a:xfrm>
          </p:grpSpPr>
          <p:grpSp>
            <p:nvGrpSpPr>
              <p:cNvPr id="63" name="Google Shape;577;p65"/>
              <p:cNvGrpSpPr/>
              <p:nvPr/>
            </p:nvGrpSpPr>
            <p:grpSpPr>
              <a:xfrm>
                <a:off x="-2" y="0"/>
                <a:ext cx="314709" cy="428304"/>
                <a:chOff x="0" y="0"/>
                <a:chExt cx="314707" cy="428303"/>
              </a:xfrm>
            </p:grpSpPr>
            <p:sp>
              <p:nvSpPr>
                <p:cNvPr id="61" name="Google Shape;578;p65"/>
                <p:cNvSpPr/>
                <p:nvPr/>
              </p:nvSpPr>
              <p:spPr>
                <a:xfrm>
                  <a:off x="-1" y="0"/>
                  <a:ext cx="314709" cy="192303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62" name="Google Shape;579;p65"/>
                <p:cNvSpPr/>
                <p:nvPr/>
              </p:nvSpPr>
              <p:spPr>
                <a:xfrm>
                  <a:off x="-1" y="236001"/>
                  <a:ext cx="314709" cy="192303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  <p:grpSp>
            <p:nvGrpSpPr>
              <p:cNvPr id="66" name="Google Shape;580;p65"/>
              <p:cNvGrpSpPr/>
              <p:nvPr/>
            </p:nvGrpSpPr>
            <p:grpSpPr>
              <a:xfrm>
                <a:off x="-2" y="475726"/>
                <a:ext cx="314709" cy="428305"/>
                <a:chOff x="0" y="0"/>
                <a:chExt cx="314707" cy="428303"/>
              </a:xfrm>
            </p:grpSpPr>
            <p:sp>
              <p:nvSpPr>
                <p:cNvPr id="64" name="Google Shape;581;p65"/>
                <p:cNvSpPr/>
                <p:nvPr/>
              </p:nvSpPr>
              <p:spPr>
                <a:xfrm>
                  <a:off x="-1" y="0"/>
                  <a:ext cx="314709" cy="192303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65" name="Google Shape;582;p65"/>
                <p:cNvSpPr/>
                <p:nvPr/>
              </p:nvSpPr>
              <p:spPr>
                <a:xfrm>
                  <a:off x="-1" y="236001"/>
                  <a:ext cx="314709" cy="192303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</p:grpSp>
        <p:grpSp>
          <p:nvGrpSpPr>
            <p:cNvPr id="74" name="Google Shape;583;p65"/>
            <p:cNvGrpSpPr/>
            <p:nvPr/>
          </p:nvGrpSpPr>
          <p:grpSpPr>
            <a:xfrm>
              <a:off x="-3" y="956349"/>
              <a:ext cx="314709" cy="904031"/>
              <a:chOff x="-1" y="0"/>
              <a:chExt cx="314707" cy="904029"/>
            </a:xfrm>
          </p:grpSpPr>
          <p:grpSp>
            <p:nvGrpSpPr>
              <p:cNvPr id="70" name="Google Shape;584;p65"/>
              <p:cNvGrpSpPr/>
              <p:nvPr/>
            </p:nvGrpSpPr>
            <p:grpSpPr>
              <a:xfrm>
                <a:off x="-2" y="0"/>
                <a:ext cx="314709" cy="428304"/>
                <a:chOff x="0" y="0"/>
                <a:chExt cx="314707" cy="428303"/>
              </a:xfrm>
            </p:grpSpPr>
            <p:sp>
              <p:nvSpPr>
                <p:cNvPr id="68" name="Google Shape;585;p65"/>
                <p:cNvSpPr/>
                <p:nvPr/>
              </p:nvSpPr>
              <p:spPr>
                <a:xfrm>
                  <a:off x="-1" y="0"/>
                  <a:ext cx="314709" cy="192303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69" name="Google Shape;586;p65"/>
                <p:cNvSpPr/>
                <p:nvPr/>
              </p:nvSpPr>
              <p:spPr>
                <a:xfrm>
                  <a:off x="-1" y="236001"/>
                  <a:ext cx="314709" cy="192303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  <p:grpSp>
            <p:nvGrpSpPr>
              <p:cNvPr id="73" name="Google Shape;587;p65"/>
              <p:cNvGrpSpPr/>
              <p:nvPr/>
            </p:nvGrpSpPr>
            <p:grpSpPr>
              <a:xfrm>
                <a:off x="-2" y="475726"/>
                <a:ext cx="314709" cy="428305"/>
                <a:chOff x="0" y="0"/>
                <a:chExt cx="314707" cy="428303"/>
              </a:xfrm>
            </p:grpSpPr>
            <p:sp>
              <p:nvSpPr>
                <p:cNvPr id="71" name="Google Shape;588;p65"/>
                <p:cNvSpPr/>
                <p:nvPr/>
              </p:nvSpPr>
              <p:spPr>
                <a:xfrm>
                  <a:off x="-1" y="0"/>
                  <a:ext cx="314709" cy="192303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72" name="Google Shape;589;p65"/>
                <p:cNvSpPr/>
                <p:nvPr/>
              </p:nvSpPr>
              <p:spPr>
                <a:xfrm>
                  <a:off x="-1" y="236001"/>
                  <a:ext cx="314709" cy="192303"/>
                </a:xfrm>
                <a:prstGeom prst="rect">
                  <a:avLst/>
                </a:prstGeom>
                <a:solidFill>
                  <a:srgbClr val="EEEEEE"/>
                </a:solidFill>
                <a:ln w="9525" cap="flat">
                  <a:solidFill>
                    <a:srgbClr val="595959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</p:grpSp>
      </p:grpSp>
      <p:sp>
        <p:nvSpPr>
          <p:cNvPr id="76" name="Google Shape;590;p65"/>
          <p:cNvSpPr/>
          <p:nvPr/>
        </p:nvSpPr>
        <p:spPr>
          <a:xfrm flipV="1">
            <a:off x="5544963" y="2959300"/>
            <a:ext cx="2606777" cy="14"/>
          </a:xfrm>
          <a:prstGeom prst="line">
            <a:avLst/>
          </a:prstGeom>
          <a:ln>
            <a:solidFill>
              <a:srgbClr val="59595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" name="Google Shape;591;p65"/>
          <p:cNvSpPr/>
          <p:nvPr/>
        </p:nvSpPr>
        <p:spPr>
          <a:xfrm flipV="1">
            <a:off x="5544963" y="2959300"/>
            <a:ext cx="2606777" cy="14"/>
          </a:xfrm>
          <a:prstGeom prst="line">
            <a:avLst/>
          </a:prstGeom>
          <a:ln>
            <a:solidFill>
              <a:srgbClr val="59595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" name="Google Shape;592;p65"/>
          <p:cNvSpPr/>
          <p:nvPr/>
        </p:nvSpPr>
        <p:spPr>
          <a:xfrm>
            <a:off x="5702386" y="2125187"/>
            <a:ext cx="2292002" cy="475801"/>
          </a:xfrm>
          <a:prstGeom prst="line">
            <a:avLst/>
          </a:prstGeom>
          <a:ln>
            <a:solidFill>
              <a:srgbClr val="59595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" name="Google Shape;593;p65"/>
          <p:cNvSpPr/>
          <p:nvPr/>
        </p:nvSpPr>
        <p:spPr>
          <a:xfrm>
            <a:off x="5702388" y="2125386"/>
            <a:ext cx="2292001" cy="711603"/>
          </a:xfrm>
          <a:prstGeom prst="line">
            <a:avLst/>
          </a:prstGeom>
          <a:ln>
            <a:solidFill>
              <a:srgbClr val="59595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" name="Google Shape;594;p65"/>
          <p:cNvSpPr/>
          <p:nvPr/>
        </p:nvSpPr>
        <p:spPr>
          <a:xfrm>
            <a:off x="5702386" y="2125211"/>
            <a:ext cx="2292002" cy="956401"/>
          </a:xfrm>
          <a:prstGeom prst="line">
            <a:avLst/>
          </a:prstGeom>
          <a:ln>
            <a:solidFill>
              <a:srgbClr val="59595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" name="Google Shape;595;p65"/>
          <p:cNvSpPr/>
          <p:nvPr/>
        </p:nvSpPr>
        <p:spPr>
          <a:xfrm flipV="1">
            <a:off x="5544963" y="2959300"/>
            <a:ext cx="2606777" cy="14"/>
          </a:xfrm>
          <a:prstGeom prst="line">
            <a:avLst/>
          </a:prstGeom>
          <a:ln>
            <a:solidFill>
              <a:srgbClr val="59595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" name="Google Shape;596;p65"/>
          <p:cNvSpPr/>
          <p:nvPr/>
        </p:nvSpPr>
        <p:spPr>
          <a:xfrm flipV="1">
            <a:off x="5544963" y="2959300"/>
            <a:ext cx="2606777" cy="14"/>
          </a:xfrm>
          <a:prstGeom prst="line">
            <a:avLst/>
          </a:prstGeom>
          <a:ln>
            <a:solidFill>
              <a:srgbClr val="59595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" name="Google Shape;597;p65"/>
          <p:cNvSpPr/>
          <p:nvPr/>
        </p:nvSpPr>
        <p:spPr>
          <a:xfrm>
            <a:off x="5702386" y="2361287"/>
            <a:ext cx="2292002" cy="239703"/>
          </a:xfrm>
          <a:prstGeom prst="line">
            <a:avLst/>
          </a:prstGeom>
          <a:ln>
            <a:solidFill>
              <a:srgbClr val="59595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" name="Google Shape;598;p65"/>
          <p:cNvSpPr/>
          <p:nvPr/>
        </p:nvSpPr>
        <p:spPr>
          <a:xfrm>
            <a:off x="5702386" y="2361187"/>
            <a:ext cx="2292002" cy="475802"/>
          </a:xfrm>
          <a:prstGeom prst="line">
            <a:avLst/>
          </a:prstGeom>
          <a:ln>
            <a:solidFill>
              <a:srgbClr val="59595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" name="Google Shape;599;p65"/>
          <p:cNvSpPr/>
          <p:nvPr/>
        </p:nvSpPr>
        <p:spPr>
          <a:xfrm flipV="1">
            <a:off x="5544963" y="2959300"/>
            <a:ext cx="2606777" cy="14"/>
          </a:xfrm>
          <a:prstGeom prst="line">
            <a:avLst/>
          </a:prstGeom>
          <a:ln>
            <a:solidFill>
              <a:srgbClr val="59595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" name="Google Shape;600;p65"/>
          <p:cNvSpPr txBox="1"/>
          <p:nvPr/>
        </p:nvSpPr>
        <p:spPr>
          <a:xfrm>
            <a:off x="6625463" y="3161550"/>
            <a:ext cx="445802" cy="454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3" tIns="91423" rIns="91423" bIns="91423">
            <a:spAutoFit/>
          </a:bodyPr>
          <a:lstStyle>
            <a:lvl1pPr>
              <a:defRPr sz="1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…</a:t>
            </a:r>
          </a:p>
        </p:txBody>
      </p:sp>
      <p:pic>
        <p:nvPicPr>
          <p:cNvPr id="87" name="Screenshot 2026-03-05 at 8.03.09 AM.pngGoogle Shape;601;p65" descr="Screenshot 2026-03-05 at 8.03.09 AM.pngGoogle Shape;601;p6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2635" y="2344652"/>
            <a:ext cx="3605852" cy="2088153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Google Shape;602;p65"/>
          <p:cNvSpPr/>
          <p:nvPr/>
        </p:nvSpPr>
        <p:spPr>
          <a:xfrm>
            <a:off x="5339524" y="4222963"/>
            <a:ext cx="314702" cy="192302"/>
          </a:xfrm>
          <a:prstGeom prst="rect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txBody>
          <a:bodyPr lIns="45718" tIns="45718" rIns="45718" bIns="45718" anchor="ctr"/>
          <a:lstStyle/>
          <a:p>
            <a:pPr algn="ctr"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89" name="Google Shape;603;p65"/>
          <p:cNvSpPr/>
          <p:nvPr/>
        </p:nvSpPr>
        <p:spPr>
          <a:xfrm>
            <a:off x="5339524" y="4748724"/>
            <a:ext cx="314702" cy="192302"/>
          </a:xfrm>
          <a:prstGeom prst="rect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txBody>
          <a:bodyPr lIns="45718" tIns="45718" rIns="45718" bIns="45718" anchor="ctr"/>
          <a:lstStyle/>
          <a:p>
            <a:pPr algn="ctr"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grpSp>
        <p:nvGrpSpPr>
          <p:cNvPr id="92" name="Google Shape;604;p65"/>
          <p:cNvGrpSpPr/>
          <p:nvPr/>
        </p:nvGrpSpPr>
        <p:grpSpPr>
          <a:xfrm>
            <a:off x="6283612" y="4272849"/>
            <a:ext cx="900003" cy="558447"/>
            <a:chOff x="0" y="0"/>
            <a:chExt cx="900002" cy="558446"/>
          </a:xfrm>
        </p:grpSpPr>
        <p:sp>
          <p:nvSpPr>
            <p:cNvPr id="90" name="Rectangle"/>
            <p:cNvSpPr/>
            <p:nvPr/>
          </p:nvSpPr>
          <p:spPr>
            <a:xfrm>
              <a:off x="-1" y="82574"/>
              <a:ext cx="900003" cy="393303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59595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3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1" name="Similarity metric"/>
            <p:cNvSpPr txBox="1"/>
            <p:nvPr/>
          </p:nvSpPr>
          <p:spPr>
            <a:xfrm>
              <a:off x="4761" y="-1"/>
              <a:ext cx="890478" cy="5584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3" tIns="91423" rIns="91423" bIns="91423" numCol="1" anchor="ctr">
              <a:spAutoFit/>
            </a:bodyPr>
            <a:lstStyle>
              <a:lvl1pPr algn="ctr">
                <a:defRPr sz="13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Similarity metric</a:t>
              </a:r>
            </a:p>
          </p:txBody>
        </p:sp>
      </p:grpSp>
      <p:sp>
        <p:nvSpPr>
          <p:cNvPr id="93" name="Google Shape;605;p65"/>
          <p:cNvSpPr/>
          <p:nvPr/>
        </p:nvSpPr>
        <p:spPr>
          <a:xfrm>
            <a:off x="5659008" y="4349653"/>
            <a:ext cx="619843" cy="116760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" name="Google Shape;606;p65"/>
          <p:cNvSpPr/>
          <p:nvPr/>
        </p:nvSpPr>
        <p:spPr>
          <a:xfrm flipV="1">
            <a:off x="5659009" y="4659739"/>
            <a:ext cx="619843" cy="146751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" name="Google Shape;607;p65"/>
          <p:cNvSpPr txBox="1"/>
          <p:nvPr/>
        </p:nvSpPr>
        <p:spPr>
          <a:xfrm>
            <a:off x="7457113" y="4350425"/>
            <a:ext cx="900002" cy="367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3" tIns="91423" rIns="91423" bIns="91423">
            <a:spAutoFit/>
          </a:bodyPr>
          <a:lstStyle>
            <a:lvl1pPr>
              <a:defRPr sz="1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0.78 &gt; T</a:t>
            </a:r>
          </a:p>
        </p:txBody>
      </p:sp>
      <p:sp>
        <p:nvSpPr>
          <p:cNvPr id="96" name="Google Shape;608;p65"/>
          <p:cNvSpPr/>
          <p:nvPr/>
        </p:nvSpPr>
        <p:spPr>
          <a:xfrm flipV="1">
            <a:off x="7188487" y="4541284"/>
            <a:ext cx="268627" cy="4008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613;p66"/>
          <p:cNvSpPr txBox="1"/>
          <p:nvPr>
            <p:ph type="title"/>
          </p:nvPr>
        </p:nvSpPr>
        <p:spPr>
          <a:xfrm>
            <a:off x="131098" y="197267"/>
            <a:ext cx="8330404" cy="611704"/>
          </a:xfrm>
          <a:prstGeom prst="rect">
            <a:avLst/>
          </a:prstGeom>
        </p:spPr>
        <p:txBody>
          <a:bodyPr/>
          <a:lstStyle>
            <a:lvl1pPr>
              <a:defRPr b="1" sz="3000">
                <a:solidFill>
                  <a:srgbClr val="00462A"/>
                </a:solidFill>
                <a:latin typeface="IBM Plex Sans KR"/>
                <a:ea typeface="IBM Plex Sans KR"/>
                <a:cs typeface="IBM Plex Sans KR"/>
                <a:sym typeface="IBM Plex Sans KR"/>
              </a:defRPr>
            </a:lvl1pPr>
          </a:lstStyle>
          <a:p>
            <a:pPr/>
            <a:r>
              <a:t>Introduction </a:t>
            </a:r>
          </a:p>
        </p:txBody>
      </p:sp>
      <p:sp>
        <p:nvSpPr>
          <p:cNvPr id="99" name="Google Shape;614;p66"/>
          <p:cNvSpPr txBox="1"/>
          <p:nvPr/>
        </p:nvSpPr>
        <p:spPr>
          <a:xfrm>
            <a:off x="152400" y="883675"/>
            <a:ext cx="8868600" cy="720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3" tIns="91423" rIns="91423" bIns="91423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200"/>
              </a:spcBef>
              <a:buClr>
                <a:srgbClr val="171616"/>
              </a:buClr>
              <a:buSzPts val="1700"/>
              <a:buFont typeface="Arial"/>
              <a:buChar char="●"/>
              <a:defRPr sz="1700">
                <a:latin typeface="Arial"/>
                <a:ea typeface="Arial"/>
                <a:cs typeface="Arial"/>
                <a:sym typeface="Arial"/>
              </a:defRPr>
            </a:pPr>
            <a:r>
              <a:t>DeepCorr : DNN as a metric</a:t>
            </a:r>
          </a:p>
          <a:p>
            <a:pPr marL="457200" indent="-336550">
              <a:lnSpc>
                <a:spcPct val="115000"/>
              </a:lnSpc>
              <a:buClr>
                <a:srgbClr val="000000"/>
              </a:buClr>
              <a:buSzPts val="1700"/>
              <a:buFont typeface="Arial"/>
              <a:buChar char="●"/>
              <a:defRPr sz="1700">
                <a:latin typeface="Arial"/>
                <a:ea typeface="Arial"/>
                <a:cs typeface="Arial"/>
                <a:sym typeface="Arial"/>
              </a:defRPr>
            </a:pPr>
            <a:r>
              <a:t>DeepCoFFEA: </a:t>
            </a:r>
            <a:r>
              <a:rPr b="1"/>
              <a:t>Deep metric learning </a:t>
            </a:r>
          </a:p>
        </p:txBody>
      </p:sp>
      <p:sp>
        <p:nvSpPr>
          <p:cNvPr id="100" name="Google Shape;615;p66"/>
          <p:cNvSpPr/>
          <p:nvPr/>
        </p:nvSpPr>
        <p:spPr>
          <a:xfrm>
            <a:off x="401663" y="2473025"/>
            <a:ext cx="314702" cy="192302"/>
          </a:xfrm>
          <a:prstGeom prst="rect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txBody>
          <a:bodyPr lIns="45718" tIns="45718" rIns="45718" bIns="45718" anchor="ctr"/>
          <a:lstStyle/>
          <a:p>
            <a:pPr algn="ctr"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01" name="Google Shape;616;p66"/>
          <p:cNvSpPr/>
          <p:nvPr/>
        </p:nvSpPr>
        <p:spPr>
          <a:xfrm>
            <a:off x="401663" y="3058623"/>
            <a:ext cx="314702" cy="192302"/>
          </a:xfrm>
          <a:prstGeom prst="rect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txBody>
          <a:bodyPr lIns="45718" tIns="45718" rIns="45718" bIns="45718" anchor="ctr"/>
          <a:lstStyle/>
          <a:p>
            <a:pPr algn="ctr"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grpSp>
        <p:nvGrpSpPr>
          <p:cNvPr id="104" name="Google Shape;617;p66"/>
          <p:cNvGrpSpPr/>
          <p:nvPr/>
        </p:nvGrpSpPr>
        <p:grpSpPr>
          <a:xfrm>
            <a:off x="1249080" y="2077841"/>
            <a:ext cx="996672" cy="1480718"/>
            <a:chOff x="-1" y="0"/>
            <a:chExt cx="996671" cy="1480716"/>
          </a:xfrm>
        </p:grpSpPr>
        <p:sp>
          <p:nvSpPr>
            <p:cNvPr id="102" name="Rectangle"/>
            <p:cNvSpPr/>
            <p:nvPr/>
          </p:nvSpPr>
          <p:spPr>
            <a:xfrm>
              <a:off x="-2" y="0"/>
              <a:ext cx="996673" cy="1480718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59595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3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3" name="DeepCorr"/>
            <p:cNvSpPr txBox="1"/>
            <p:nvPr/>
          </p:nvSpPr>
          <p:spPr>
            <a:xfrm>
              <a:off x="5274" y="556384"/>
              <a:ext cx="986123" cy="3679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3" tIns="91423" rIns="91423" bIns="91423" numCol="1" anchor="ctr">
              <a:spAutoFit/>
            </a:bodyPr>
            <a:lstStyle>
              <a:lvl1pPr algn="ctr">
                <a:defRPr sz="13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DeepCorr</a:t>
              </a:r>
            </a:p>
          </p:txBody>
        </p:sp>
      </p:grpSp>
      <p:sp>
        <p:nvSpPr>
          <p:cNvPr id="105" name="Google Shape;618;p66"/>
          <p:cNvSpPr/>
          <p:nvPr/>
        </p:nvSpPr>
        <p:spPr>
          <a:xfrm>
            <a:off x="721147" y="2603149"/>
            <a:ext cx="523174" cy="109631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" name="Google Shape;619;p66"/>
          <p:cNvSpPr/>
          <p:nvPr/>
        </p:nvSpPr>
        <p:spPr>
          <a:xfrm flipV="1">
            <a:off x="721147" y="2960683"/>
            <a:ext cx="523174" cy="148173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" name="Google Shape;620;p66"/>
          <p:cNvSpPr txBox="1"/>
          <p:nvPr/>
        </p:nvSpPr>
        <p:spPr>
          <a:xfrm>
            <a:off x="2519248" y="2660325"/>
            <a:ext cx="900002" cy="367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3" tIns="91423" rIns="91423" bIns="91423">
            <a:spAutoFit/>
          </a:bodyPr>
          <a:lstStyle>
            <a:lvl1pPr>
              <a:defRPr sz="1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0.78 &gt; T</a:t>
            </a:r>
          </a:p>
        </p:txBody>
      </p:sp>
      <p:sp>
        <p:nvSpPr>
          <p:cNvPr id="108" name="Google Shape;621;p66"/>
          <p:cNvSpPr/>
          <p:nvPr/>
        </p:nvSpPr>
        <p:spPr>
          <a:xfrm>
            <a:off x="2250397" y="2829015"/>
            <a:ext cx="268853" cy="5783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" name="Google Shape;622;p66"/>
          <p:cNvSpPr/>
          <p:nvPr/>
        </p:nvSpPr>
        <p:spPr>
          <a:xfrm>
            <a:off x="3621363" y="2355050"/>
            <a:ext cx="314702" cy="192302"/>
          </a:xfrm>
          <a:prstGeom prst="rect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txBody>
          <a:bodyPr lIns="45718" tIns="45718" rIns="45718" bIns="45718" anchor="ctr"/>
          <a:lstStyle/>
          <a:p>
            <a:pPr algn="ctr"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10" name="Google Shape;623;p66"/>
          <p:cNvSpPr/>
          <p:nvPr/>
        </p:nvSpPr>
        <p:spPr>
          <a:xfrm>
            <a:off x="3621363" y="3075900"/>
            <a:ext cx="314702" cy="192302"/>
          </a:xfrm>
          <a:prstGeom prst="rect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txBody>
          <a:bodyPr lIns="45718" tIns="45718" rIns="45718" bIns="45718" anchor="ctr"/>
          <a:lstStyle/>
          <a:p>
            <a:pPr algn="ctr"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grpSp>
        <p:nvGrpSpPr>
          <p:cNvPr id="113" name="Google Shape;624;p66"/>
          <p:cNvGrpSpPr/>
          <p:nvPr/>
        </p:nvGrpSpPr>
        <p:grpSpPr>
          <a:xfrm>
            <a:off x="4386330" y="2159883"/>
            <a:ext cx="1232647" cy="1316634"/>
            <a:chOff x="0" y="0"/>
            <a:chExt cx="1232645" cy="1316633"/>
          </a:xfrm>
        </p:grpSpPr>
        <p:sp>
          <p:nvSpPr>
            <p:cNvPr id="111" name="Rectangle"/>
            <p:cNvSpPr/>
            <p:nvPr/>
          </p:nvSpPr>
          <p:spPr>
            <a:xfrm>
              <a:off x="-1" y="-1"/>
              <a:ext cx="1232646" cy="131663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59595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13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12" name="DeepCoFFEA"/>
            <p:cNvSpPr txBox="1"/>
            <p:nvPr/>
          </p:nvSpPr>
          <p:spPr>
            <a:xfrm>
              <a:off x="4847" y="474342"/>
              <a:ext cx="1222950" cy="3679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3" tIns="91423" rIns="91423" bIns="91423" numCol="1" anchor="ctr">
              <a:spAutoFit/>
            </a:bodyPr>
            <a:lstStyle>
              <a:lvl1pPr>
                <a:defRPr sz="13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DeepCoFFEA</a:t>
              </a:r>
            </a:p>
          </p:txBody>
        </p:sp>
      </p:grpSp>
      <p:sp>
        <p:nvSpPr>
          <p:cNvPr id="114" name="Google Shape;625;p66"/>
          <p:cNvSpPr/>
          <p:nvPr/>
        </p:nvSpPr>
        <p:spPr>
          <a:xfrm>
            <a:off x="3936062" y="2451199"/>
            <a:ext cx="468302" cy="2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" name="Google Shape;626;p66"/>
          <p:cNvSpPr/>
          <p:nvPr/>
        </p:nvSpPr>
        <p:spPr>
          <a:xfrm>
            <a:off x="3936062" y="3172050"/>
            <a:ext cx="477002" cy="4500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" name="Google Shape;627;p66"/>
          <p:cNvSpPr txBox="1"/>
          <p:nvPr/>
        </p:nvSpPr>
        <p:spPr>
          <a:xfrm>
            <a:off x="8161725" y="2599500"/>
            <a:ext cx="900002" cy="367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3" tIns="91423" rIns="91423" bIns="91423">
            <a:spAutoFit/>
          </a:bodyPr>
          <a:lstStyle>
            <a:lvl1pPr>
              <a:defRPr sz="1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0.78 &gt; T</a:t>
            </a:r>
          </a:p>
        </p:txBody>
      </p:sp>
      <p:sp>
        <p:nvSpPr>
          <p:cNvPr id="117" name="Google Shape;628;p66"/>
          <p:cNvSpPr/>
          <p:nvPr/>
        </p:nvSpPr>
        <p:spPr>
          <a:xfrm flipV="1">
            <a:off x="5618975" y="2455663"/>
            <a:ext cx="445501" cy="2102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" name="Google Shape;629;p66"/>
          <p:cNvSpPr txBox="1"/>
          <p:nvPr/>
        </p:nvSpPr>
        <p:spPr>
          <a:xfrm>
            <a:off x="0" y="4407055"/>
            <a:ext cx="9144001" cy="814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3" tIns="91423" rIns="91423" bIns="91423">
            <a:spAutoFit/>
          </a:bodyPr>
          <a:lstStyle/>
          <a:p>
            <a:pPr>
              <a:defRPr sz="900">
                <a:latin typeface="Arial"/>
                <a:ea typeface="Arial"/>
                <a:cs typeface="Arial"/>
                <a:sym typeface="Arial"/>
              </a:defRPr>
            </a:pPr>
            <a:r>
              <a:t>Nasr, M., Bahramali, A., &amp; Houmansadr, A. (2018). DeepCorr: Strong flow correlation aacks on tor using deep learning. </a:t>
            </a:r>
            <a:r>
              <a:rPr i="1"/>
              <a:t>Proceedings of the ACM Conference on Computer and Communications Security</a:t>
            </a:r>
            <a:r>
              <a:t>, 1962–1976.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https://doi.org/10.1145/3243734.3243824</a:t>
            </a:r>
          </a:p>
          <a:p>
            <a:pPr>
              <a:defRPr sz="900"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defRPr sz="900">
                <a:latin typeface="Arial"/>
                <a:ea typeface="Arial"/>
                <a:cs typeface="Arial"/>
                <a:sym typeface="Arial"/>
              </a:defRPr>
            </a:pPr>
            <a:r>
              <a:t>Se Eun Oh; Taiji Yang; Nate Mathews; James K Holland; Mohammad Saidur Rahman; Nicholas Hopper. (2022). </a:t>
            </a:r>
            <a:r>
              <a:rPr i="1"/>
              <a:t>DeepCoFFEA: Improved Flow Correlation Attacks on Tor via Metric Learning and Ampliﬁcation</a:t>
            </a:r>
            <a:r>
              <a:t>. IEEE.</a:t>
            </a:r>
          </a:p>
        </p:txBody>
      </p:sp>
      <p:sp>
        <p:nvSpPr>
          <p:cNvPr id="119" name="Google Shape;630;p66"/>
          <p:cNvSpPr/>
          <p:nvPr/>
        </p:nvSpPr>
        <p:spPr>
          <a:xfrm>
            <a:off x="5618981" y="3127515"/>
            <a:ext cx="445502" cy="32704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22" name="Google Shape;632;p66"/>
          <p:cNvGrpSpPr/>
          <p:nvPr/>
        </p:nvGrpSpPr>
        <p:grpSpPr>
          <a:xfrm>
            <a:off x="6064482" y="2323136"/>
            <a:ext cx="532495" cy="306110"/>
            <a:chOff x="0" y="0"/>
            <a:chExt cx="532493" cy="306108"/>
          </a:xfrm>
        </p:grpSpPr>
        <p:sp>
          <p:nvSpPr>
            <p:cNvPr id="120" name="Rectangle"/>
            <p:cNvSpPr/>
            <p:nvPr/>
          </p:nvSpPr>
          <p:spPr>
            <a:xfrm>
              <a:off x="0" y="14070"/>
              <a:ext cx="532494" cy="277970"/>
            </a:xfrm>
            <a:prstGeom prst="rect">
              <a:avLst/>
            </a:prstGeom>
            <a:solidFill>
              <a:srgbClr val="EEEEEE"/>
            </a:solidFill>
            <a:ln w="9525" cap="flat">
              <a:solidFill>
                <a:srgbClr val="59595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9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21" name="embd"/>
            <p:cNvSpPr txBox="1"/>
            <p:nvPr/>
          </p:nvSpPr>
          <p:spPr>
            <a:xfrm>
              <a:off x="5316" y="0"/>
              <a:ext cx="521862" cy="3061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3" tIns="91423" rIns="91423" bIns="91423" numCol="1" anchor="ctr">
              <a:spAutoFit/>
            </a:bodyPr>
            <a:lstStyle>
              <a:lvl1pPr algn="ctr">
                <a:defRPr sz="9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embd</a:t>
              </a:r>
            </a:p>
          </p:txBody>
        </p:sp>
      </p:grpSp>
      <p:grpSp>
        <p:nvGrpSpPr>
          <p:cNvPr id="125" name="Google Shape;631;p66"/>
          <p:cNvGrpSpPr/>
          <p:nvPr/>
        </p:nvGrpSpPr>
        <p:grpSpPr>
          <a:xfrm>
            <a:off x="6064482" y="3007161"/>
            <a:ext cx="532495" cy="306110"/>
            <a:chOff x="0" y="0"/>
            <a:chExt cx="532493" cy="306108"/>
          </a:xfrm>
        </p:grpSpPr>
        <p:sp>
          <p:nvSpPr>
            <p:cNvPr id="123" name="Rectangle"/>
            <p:cNvSpPr/>
            <p:nvPr/>
          </p:nvSpPr>
          <p:spPr>
            <a:xfrm>
              <a:off x="0" y="14070"/>
              <a:ext cx="532494" cy="277970"/>
            </a:xfrm>
            <a:prstGeom prst="rect">
              <a:avLst/>
            </a:prstGeom>
            <a:solidFill>
              <a:srgbClr val="EEEEEE"/>
            </a:solidFill>
            <a:ln w="9525" cap="flat">
              <a:solidFill>
                <a:srgbClr val="59595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9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24" name="embd"/>
            <p:cNvSpPr txBox="1"/>
            <p:nvPr/>
          </p:nvSpPr>
          <p:spPr>
            <a:xfrm>
              <a:off x="5316" y="0"/>
              <a:ext cx="521862" cy="3061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3" tIns="91423" rIns="91423" bIns="91423" numCol="1" anchor="ctr">
              <a:spAutoFit/>
            </a:bodyPr>
            <a:lstStyle>
              <a:lvl1pPr algn="ctr">
                <a:defRPr sz="9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embd</a:t>
              </a:r>
            </a:p>
          </p:txBody>
        </p:sp>
      </p:grpSp>
      <p:grpSp>
        <p:nvGrpSpPr>
          <p:cNvPr id="128" name="Google Shape;633;p66"/>
          <p:cNvGrpSpPr/>
          <p:nvPr/>
        </p:nvGrpSpPr>
        <p:grpSpPr>
          <a:xfrm>
            <a:off x="6929349" y="2518111"/>
            <a:ext cx="900003" cy="558448"/>
            <a:chOff x="0" y="0"/>
            <a:chExt cx="900002" cy="558446"/>
          </a:xfrm>
        </p:grpSpPr>
        <p:sp>
          <p:nvSpPr>
            <p:cNvPr id="126" name="Rectangle"/>
            <p:cNvSpPr/>
            <p:nvPr/>
          </p:nvSpPr>
          <p:spPr>
            <a:xfrm>
              <a:off x="-1" y="82574"/>
              <a:ext cx="900003" cy="393303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59595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3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27" name="cos…"/>
            <p:cNvSpPr txBox="1"/>
            <p:nvPr/>
          </p:nvSpPr>
          <p:spPr>
            <a:xfrm>
              <a:off x="4761" y="-1"/>
              <a:ext cx="890478" cy="5584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3" tIns="91423" rIns="91423" bIns="91423" numCol="1" anchor="ctr">
              <a:spAutoFit/>
            </a:bodyPr>
            <a:lstStyle/>
            <a:p>
              <a:pPr algn="ctr">
                <a:defRPr sz="1300">
                  <a:latin typeface="Arial"/>
                  <a:ea typeface="Arial"/>
                  <a:cs typeface="Arial"/>
                  <a:sym typeface="Arial"/>
                </a:defRPr>
              </a:pPr>
              <a:r>
                <a:t>cos</a:t>
              </a:r>
            </a:p>
            <a:p>
              <a:pPr algn="ctr">
                <a:defRPr sz="1300">
                  <a:latin typeface="Arial"/>
                  <a:ea typeface="Arial"/>
                  <a:cs typeface="Arial"/>
                  <a:sym typeface="Arial"/>
                </a:defRPr>
              </a:pPr>
              <a:r>
                <a:t>sims</a:t>
              </a:r>
            </a:p>
          </p:txBody>
        </p:sp>
      </p:grpSp>
      <p:sp>
        <p:nvSpPr>
          <p:cNvPr id="129" name="Google Shape;634;p66"/>
          <p:cNvSpPr/>
          <p:nvPr/>
        </p:nvSpPr>
        <p:spPr>
          <a:xfrm>
            <a:off x="6601849" y="2559223"/>
            <a:ext cx="322739" cy="98842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" name="Google Shape;635;p66"/>
          <p:cNvSpPr/>
          <p:nvPr/>
        </p:nvSpPr>
        <p:spPr>
          <a:xfrm flipV="1">
            <a:off x="6601849" y="2954709"/>
            <a:ext cx="322739" cy="111686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" name="Google Shape;636;p66"/>
          <p:cNvSpPr/>
          <p:nvPr/>
        </p:nvSpPr>
        <p:spPr>
          <a:xfrm flipV="1">
            <a:off x="7834224" y="2788648"/>
            <a:ext cx="327503" cy="3639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643;p67"/>
          <p:cNvSpPr txBox="1"/>
          <p:nvPr>
            <p:ph type="title"/>
          </p:nvPr>
        </p:nvSpPr>
        <p:spPr>
          <a:xfrm>
            <a:off x="131098" y="197267"/>
            <a:ext cx="8330404" cy="611704"/>
          </a:xfrm>
          <a:prstGeom prst="rect">
            <a:avLst/>
          </a:prstGeom>
        </p:spPr>
        <p:txBody>
          <a:bodyPr/>
          <a:lstStyle>
            <a:lvl1pPr>
              <a:defRPr b="1" sz="3000">
                <a:solidFill>
                  <a:srgbClr val="00462A"/>
                </a:solidFill>
                <a:latin typeface="IBM Plex Sans KR"/>
                <a:ea typeface="IBM Plex Sans KR"/>
                <a:cs typeface="IBM Plex Sans KR"/>
                <a:sym typeface="IBM Plex Sans KR"/>
              </a:defRPr>
            </a:lvl1pPr>
          </a:lstStyle>
          <a:p>
            <a:pPr/>
            <a:r>
              <a:t>Introduction </a:t>
            </a:r>
          </a:p>
        </p:txBody>
      </p:sp>
      <p:sp>
        <p:nvSpPr>
          <p:cNvPr id="134" name="Google Shape;644;p67"/>
          <p:cNvSpPr txBox="1"/>
          <p:nvPr/>
        </p:nvSpPr>
        <p:spPr>
          <a:xfrm>
            <a:off x="152400" y="883675"/>
            <a:ext cx="8868600" cy="1576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3" tIns="91423" rIns="91423" bIns="91423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200"/>
              </a:spcBef>
              <a:buClr>
                <a:srgbClr val="171616"/>
              </a:buClr>
              <a:buSzPts val="1700"/>
              <a:buFont typeface="Arial"/>
              <a:buChar char="●"/>
              <a:defRPr sz="1700">
                <a:latin typeface="Arial"/>
                <a:ea typeface="Arial"/>
                <a:cs typeface="Arial"/>
                <a:sym typeface="Arial"/>
              </a:defRPr>
            </a:pPr>
            <a:r>
              <a:t>ANN search (Approximate Nearest Search)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 typeface="Arial"/>
              <a:buChar char="-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Tolerates minimal approximation error in exchange for significant reduction in computational cost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 typeface="Arial"/>
              <a:buChar char="-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Given </a:t>
            </a:r>
            <a:r>
              <a:rPr i="1"/>
              <a:t>n</a:t>
            </a:r>
            <a:r>
              <a:t> flows, the ANN index retrieves top-</a:t>
            </a:r>
            <a:r>
              <a:rPr i="1"/>
              <a:t>k</a:t>
            </a:r>
            <a:r>
              <a:t> candidate matches per query — avoiding exhaustive </a:t>
            </a:r>
            <a:r>
              <a:rPr i="1"/>
              <a:t>n²</a:t>
            </a:r>
            <a:r>
              <a:t> comparisons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 typeface="Arial"/>
              <a:buChar char="-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Candidates are aggregated via a voting mechanism to determine the correlated flow</a:t>
            </a:r>
          </a:p>
        </p:txBody>
      </p:sp>
      <p:sp>
        <p:nvSpPr>
          <p:cNvPr id="135" name="Google Shape;645;p67"/>
          <p:cNvSpPr txBox="1"/>
          <p:nvPr/>
        </p:nvSpPr>
        <p:spPr>
          <a:xfrm>
            <a:off x="4666374" y="4351775"/>
            <a:ext cx="4622702" cy="442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3" tIns="91423" rIns="91423" bIns="91423">
            <a:spAutoFit/>
          </a:bodyPr>
          <a:lstStyle/>
          <a:p>
            <a:pPr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-&gt; HNSW, </a:t>
            </a:r>
            <a:r>
              <a:rPr>
                <a:solidFill>
                  <a:srgbClr val="535353"/>
                </a:solidFill>
              </a:rPr>
              <a:t>CAGRA</a:t>
            </a:r>
          </a:p>
        </p:txBody>
      </p:sp>
      <p:sp>
        <p:nvSpPr>
          <p:cNvPr id="136" name="Google Shape;646;p67"/>
          <p:cNvSpPr/>
          <p:nvPr/>
        </p:nvSpPr>
        <p:spPr>
          <a:xfrm>
            <a:off x="370710" y="3722649"/>
            <a:ext cx="314701" cy="192302"/>
          </a:xfrm>
          <a:prstGeom prst="rect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txBody>
          <a:bodyPr lIns="45718" tIns="45718" rIns="45718" bIns="45718" anchor="ctr"/>
          <a:lstStyle/>
          <a:p>
            <a:pPr algn="ctr"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grpSp>
        <p:nvGrpSpPr>
          <p:cNvPr id="139" name="Google Shape;647;p67"/>
          <p:cNvGrpSpPr/>
          <p:nvPr/>
        </p:nvGrpSpPr>
        <p:grpSpPr>
          <a:xfrm>
            <a:off x="2494219" y="3150249"/>
            <a:ext cx="900004" cy="1337103"/>
            <a:chOff x="-1" y="0"/>
            <a:chExt cx="900003" cy="1337102"/>
          </a:xfrm>
        </p:grpSpPr>
        <p:sp>
          <p:nvSpPr>
            <p:cNvPr id="137" name="Rectangle"/>
            <p:cNvSpPr/>
            <p:nvPr/>
          </p:nvSpPr>
          <p:spPr>
            <a:xfrm>
              <a:off x="-2" y="0"/>
              <a:ext cx="900004" cy="1337103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59595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3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38" name="ANN…"/>
            <p:cNvSpPr txBox="1"/>
            <p:nvPr/>
          </p:nvSpPr>
          <p:spPr>
            <a:xfrm>
              <a:off x="4761" y="389325"/>
              <a:ext cx="890478" cy="5584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3" tIns="91423" rIns="91423" bIns="91423" numCol="1" anchor="ctr">
              <a:spAutoFit/>
            </a:bodyPr>
            <a:lstStyle/>
            <a:p>
              <a:pPr algn="ctr">
                <a:defRPr sz="1300">
                  <a:latin typeface="Arial"/>
                  <a:ea typeface="Arial"/>
                  <a:cs typeface="Arial"/>
                  <a:sym typeface="Arial"/>
                </a:defRPr>
              </a:pPr>
              <a:r>
                <a:t>ANN</a:t>
              </a:r>
            </a:p>
            <a:p>
              <a:pPr algn="ctr">
                <a:defRPr sz="1300">
                  <a:latin typeface="Arial"/>
                  <a:ea typeface="Arial"/>
                  <a:cs typeface="Arial"/>
                  <a:sym typeface="Arial"/>
                </a:defRPr>
              </a:pPr>
              <a:r>
                <a:t>index</a:t>
              </a:r>
            </a:p>
          </p:txBody>
        </p:sp>
      </p:grpSp>
      <p:sp>
        <p:nvSpPr>
          <p:cNvPr id="140" name="Google Shape;648;p67"/>
          <p:cNvSpPr/>
          <p:nvPr/>
        </p:nvSpPr>
        <p:spPr>
          <a:xfrm>
            <a:off x="3958499" y="3722649"/>
            <a:ext cx="314702" cy="192302"/>
          </a:xfrm>
          <a:prstGeom prst="rect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txBody>
          <a:bodyPr lIns="45718" tIns="45718" rIns="45718" bIns="45718" anchor="ctr"/>
          <a:lstStyle/>
          <a:p>
            <a:pPr algn="ctr"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41" name="Google Shape;649;p67"/>
          <p:cNvSpPr/>
          <p:nvPr/>
        </p:nvSpPr>
        <p:spPr>
          <a:xfrm>
            <a:off x="4347907" y="3722649"/>
            <a:ext cx="314702" cy="192302"/>
          </a:xfrm>
          <a:prstGeom prst="rect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txBody>
          <a:bodyPr lIns="45718" tIns="45718" rIns="45718" bIns="45718" anchor="ctr"/>
          <a:lstStyle/>
          <a:p>
            <a:pPr algn="ctr"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42" name="Google Shape;650;p67"/>
          <p:cNvSpPr/>
          <p:nvPr/>
        </p:nvSpPr>
        <p:spPr>
          <a:xfrm>
            <a:off x="4737313" y="3722649"/>
            <a:ext cx="314702" cy="192302"/>
          </a:xfrm>
          <a:prstGeom prst="rect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txBody>
          <a:bodyPr lIns="45718" tIns="45718" rIns="45718" bIns="45718" anchor="ctr"/>
          <a:lstStyle/>
          <a:p>
            <a:pPr algn="ctr">
              <a:defRPr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43" name="Google Shape;651;p67"/>
          <p:cNvSpPr/>
          <p:nvPr/>
        </p:nvSpPr>
        <p:spPr>
          <a:xfrm>
            <a:off x="690193" y="3819611"/>
            <a:ext cx="474938" cy="2381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" name="Google Shape;652;p67"/>
          <p:cNvSpPr/>
          <p:nvPr/>
        </p:nvSpPr>
        <p:spPr>
          <a:xfrm>
            <a:off x="3328131" y="3818799"/>
            <a:ext cx="463202" cy="17402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Google Shape;653;p67"/>
          <p:cNvSpPr txBox="1"/>
          <p:nvPr/>
        </p:nvSpPr>
        <p:spPr>
          <a:xfrm>
            <a:off x="3698099" y="3318714"/>
            <a:ext cx="1747800" cy="392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3" tIns="91423" rIns="91423" bIns="91423">
            <a:spAutoFit/>
          </a:bodyPr>
          <a:lstStyle>
            <a:lvl1pPr>
              <a:defRPr sz="15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Top-k candidates </a:t>
            </a:r>
          </a:p>
        </p:txBody>
      </p:sp>
      <p:grpSp>
        <p:nvGrpSpPr>
          <p:cNvPr id="148" name="Google Shape;647;p67"/>
          <p:cNvGrpSpPr/>
          <p:nvPr/>
        </p:nvGrpSpPr>
        <p:grpSpPr>
          <a:xfrm>
            <a:off x="791289" y="3150249"/>
            <a:ext cx="900004" cy="1337103"/>
            <a:chOff x="-1" y="0"/>
            <a:chExt cx="900003" cy="1337102"/>
          </a:xfrm>
        </p:grpSpPr>
        <p:sp>
          <p:nvSpPr>
            <p:cNvPr id="146" name="Rectangle"/>
            <p:cNvSpPr/>
            <p:nvPr/>
          </p:nvSpPr>
          <p:spPr>
            <a:xfrm>
              <a:off x="-2" y="0"/>
              <a:ext cx="900004" cy="1337103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59595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3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47" name="DCF’s…"/>
            <p:cNvSpPr txBox="1"/>
            <p:nvPr/>
          </p:nvSpPr>
          <p:spPr>
            <a:xfrm>
              <a:off x="4761" y="389325"/>
              <a:ext cx="890478" cy="5584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3" tIns="91423" rIns="91423" bIns="91423" numCol="1" anchor="ctr">
              <a:spAutoFit/>
            </a:bodyPr>
            <a:lstStyle/>
            <a:p>
              <a:pPr algn="ctr">
                <a:defRPr sz="1300">
                  <a:latin typeface="Arial"/>
                  <a:ea typeface="Arial"/>
                  <a:cs typeface="Arial"/>
                  <a:sym typeface="Arial"/>
                </a:defRPr>
              </a:pPr>
              <a:r>
                <a:t>DCF’s</a:t>
              </a:r>
            </a:p>
            <a:p>
              <a:pPr algn="ctr">
                <a:defRPr sz="1300">
                  <a:latin typeface="Arial"/>
                  <a:ea typeface="Arial"/>
                  <a:cs typeface="Arial"/>
                  <a:sym typeface="Arial"/>
                </a:defRPr>
              </a:pPr>
              <a:r>
                <a:t>FEN</a:t>
              </a:r>
            </a:p>
          </p:txBody>
        </p:sp>
      </p:grpSp>
      <p:sp>
        <p:nvSpPr>
          <p:cNvPr id="149" name="Google Shape;652;p67"/>
          <p:cNvSpPr/>
          <p:nvPr/>
        </p:nvSpPr>
        <p:spPr>
          <a:xfrm>
            <a:off x="1691050" y="3818799"/>
            <a:ext cx="800618" cy="1"/>
          </a:xfrm>
          <a:prstGeom prst="line">
            <a:avLst/>
          </a:prstGeom>
          <a:ln>
            <a:solidFill>
              <a:srgbClr val="595959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52" name="Google Shape;632;p66"/>
          <p:cNvGrpSpPr/>
          <p:nvPr/>
        </p:nvGrpSpPr>
        <p:grpSpPr>
          <a:xfrm>
            <a:off x="1825112" y="3681528"/>
            <a:ext cx="532495" cy="306110"/>
            <a:chOff x="0" y="0"/>
            <a:chExt cx="532493" cy="306108"/>
          </a:xfrm>
        </p:grpSpPr>
        <p:sp>
          <p:nvSpPr>
            <p:cNvPr id="150" name="Rectangle"/>
            <p:cNvSpPr/>
            <p:nvPr/>
          </p:nvSpPr>
          <p:spPr>
            <a:xfrm>
              <a:off x="0" y="14070"/>
              <a:ext cx="532494" cy="277970"/>
            </a:xfrm>
            <a:prstGeom prst="rect">
              <a:avLst/>
            </a:prstGeom>
            <a:solidFill>
              <a:srgbClr val="EEEEEE"/>
            </a:solidFill>
            <a:ln w="9525" cap="flat">
              <a:solidFill>
                <a:srgbClr val="59595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9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51" name="embd"/>
            <p:cNvSpPr txBox="1"/>
            <p:nvPr/>
          </p:nvSpPr>
          <p:spPr>
            <a:xfrm>
              <a:off x="5316" y="0"/>
              <a:ext cx="521862" cy="3061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3" tIns="91423" rIns="91423" bIns="91423" numCol="1" anchor="ctr">
              <a:spAutoFit/>
            </a:bodyPr>
            <a:lstStyle>
              <a:lvl1pPr algn="ctr">
                <a:defRPr sz="9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embd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 0"/>
          <p:cNvSpPr txBox="1"/>
          <p:nvPr/>
        </p:nvSpPr>
        <p:spPr>
          <a:xfrm>
            <a:off x="457200" y="326260"/>
            <a:ext cx="8229600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Motivation — How  ANN works? </a:t>
            </a:r>
          </a:p>
        </p:txBody>
      </p:sp>
      <p:sp>
        <p:nvSpPr>
          <p:cNvPr id="155" name="Shape 1"/>
          <p:cNvSpPr/>
          <p:nvPr/>
        </p:nvSpPr>
        <p:spPr>
          <a:xfrm>
            <a:off x="457200" y="841247"/>
            <a:ext cx="8229601" cy="1"/>
          </a:xfrm>
          <a:prstGeom prst="line">
            <a:avLst/>
          </a:prstGeom>
          <a:ln w="1524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" name="Greedy Search…"/>
          <p:cNvSpPr txBox="1"/>
          <p:nvPr/>
        </p:nvSpPr>
        <p:spPr>
          <a:xfrm>
            <a:off x="380738" y="1081056"/>
            <a:ext cx="4266523" cy="1512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2100">
                <a:latin typeface="+mj-lt"/>
                <a:ea typeface="+mj-ea"/>
                <a:cs typeface="+mj-cs"/>
                <a:sym typeface="Calibri"/>
              </a:defRPr>
            </a:pPr>
            <a:r>
              <a:t>Greedy Search </a:t>
            </a:r>
          </a:p>
          <a:p>
            <a:pPr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1. 임의의 시작 노드에서 출발</a:t>
            </a:r>
          </a:p>
          <a:p>
            <a:pPr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2. 현재 노드의 이웃들을 봄</a:t>
            </a:r>
          </a:p>
          <a:p>
            <a:pPr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3. 이웃 중에 query에 더 가까운 게 있으면 → 거기로 이동</a:t>
            </a:r>
          </a:p>
          <a:p>
            <a:pPr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4. 더 가까운 이웃이 없으면 → 멈춤 (local minimum)</a:t>
            </a:r>
          </a:p>
        </p:txBody>
      </p:sp>
      <p:pic>
        <p:nvPicPr>
          <p:cNvPr id="157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87151" y="2482565"/>
            <a:ext cx="4356849" cy="24507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 txBox="1"/>
          <p:nvPr/>
        </p:nvSpPr>
        <p:spPr>
          <a:xfrm>
            <a:off x="457200" y="326259"/>
            <a:ext cx="8229600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Motivation — How  ANN works? </a:t>
            </a:r>
          </a:p>
        </p:txBody>
      </p:sp>
      <p:sp>
        <p:nvSpPr>
          <p:cNvPr id="160" name="Shape 1"/>
          <p:cNvSpPr/>
          <p:nvPr/>
        </p:nvSpPr>
        <p:spPr>
          <a:xfrm>
            <a:off x="457200" y="841247"/>
            <a:ext cx="8229600" cy="1"/>
          </a:xfrm>
          <a:prstGeom prst="line">
            <a:avLst/>
          </a:prstGeom>
          <a:ln w="1524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" name="Greedy Search…"/>
          <p:cNvSpPr txBox="1"/>
          <p:nvPr/>
        </p:nvSpPr>
        <p:spPr>
          <a:xfrm>
            <a:off x="380738" y="1081056"/>
            <a:ext cx="4266523" cy="1512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2100">
                <a:latin typeface="+mj-lt"/>
                <a:ea typeface="+mj-ea"/>
                <a:cs typeface="+mj-cs"/>
                <a:sym typeface="Calibri"/>
              </a:defRPr>
            </a:pPr>
            <a:r>
              <a:t>Greedy Search </a:t>
            </a:r>
          </a:p>
          <a:p>
            <a:pPr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1. 임의의 시작 노드에서 출발</a:t>
            </a:r>
          </a:p>
          <a:p>
            <a:pPr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2. 현재 노드의 이웃들을 봄</a:t>
            </a:r>
          </a:p>
          <a:p>
            <a:pPr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3. 이웃 중에 query에 더 가까운 게 있으면 → 거기로 이동</a:t>
            </a:r>
          </a:p>
          <a:p>
            <a:pPr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4. 더 가까운 이웃이 없으면 → 멈춤 (local minimum)</a:t>
            </a:r>
          </a:p>
        </p:txBody>
      </p:sp>
      <p:pic>
        <p:nvPicPr>
          <p:cNvPr id="162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87151" y="2482565"/>
            <a:ext cx="4356849" cy="245072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5" name="그럼 greedy search 가 global nearest neighbor 를 잘 찾으려면, 그래프가 어떤 구조여야 할까?"/>
          <p:cNvGrpSpPr/>
          <p:nvPr/>
        </p:nvGrpSpPr>
        <p:grpSpPr>
          <a:xfrm>
            <a:off x="1738671" y="1704019"/>
            <a:ext cx="5379643" cy="2026843"/>
            <a:chOff x="0" y="0"/>
            <a:chExt cx="5379642" cy="2026841"/>
          </a:xfrm>
        </p:grpSpPr>
        <p:sp>
          <p:nvSpPr>
            <p:cNvPr id="163" name="Shape"/>
            <p:cNvSpPr/>
            <p:nvPr/>
          </p:nvSpPr>
          <p:spPr>
            <a:xfrm>
              <a:off x="0" y="-1"/>
              <a:ext cx="5379643" cy="2026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01" y="0"/>
                  </a:moveTo>
                  <a:cubicBezTo>
                    <a:pt x="1780" y="0"/>
                    <a:pt x="1601" y="475"/>
                    <a:pt x="1601" y="1062"/>
                  </a:cubicBezTo>
                  <a:lnTo>
                    <a:pt x="1601" y="8506"/>
                  </a:lnTo>
                  <a:lnTo>
                    <a:pt x="0" y="10629"/>
                  </a:lnTo>
                  <a:lnTo>
                    <a:pt x="1601" y="12752"/>
                  </a:lnTo>
                  <a:lnTo>
                    <a:pt x="1601" y="20538"/>
                  </a:lnTo>
                  <a:cubicBezTo>
                    <a:pt x="1601" y="21125"/>
                    <a:pt x="1780" y="21600"/>
                    <a:pt x="2001" y="21600"/>
                  </a:cubicBezTo>
                  <a:lnTo>
                    <a:pt x="21200" y="21600"/>
                  </a:lnTo>
                  <a:cubicBezTo>
                    <a:pt x="21421" y="21600"/>
                    <a:pt x="21600" y="21125"/>
                    <a:pt x="21600" y="20538"/>
                  </a:cubicBezTo>
                  <a:lnTo>
                    <a:pt x="21600" y="1062"/>
                  </a:lnTo>
                  <a:cubicBezTo>
                    <a:pt x="21600" y="475"/>
                    <a:pt x="21421" y="0"/>
                    <a:pt x="21200" y="0"/>
                  </a:cubicBezTo>
                  <a:lnTo>
                    <a:pt x="2001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64" name="그럼 greedy search 가 global nearest neighbor 를 잘 찾으려면, 그래프가 어떤 구조여야 할까?"/>
            <p:cNvSpPr txBox="1"/>
            <p:nvPr/>
          </p:nvSpPr>
          <p:spPr>
            <a:xfrm>
              <a:off x="6349" y="675775"/>
              <a:ext cx="5366944" cy="6752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그럼 greedy search 가 global nearest neighbor 를 잘 찾으려면, 그래프가 어떤 구조여야 할까? 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 txBox="1"/>
          <p:nvPr/>
        </p:nvSpPr>
        <p:spPr>
          <a:xfrm>
            <a:off x="457200" y="326259"/>
            <a:ext cx="8229600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Motivation — How  ANN works? </a:t>
            </a:r>
          </a:p>
        </p:txBody>
      </p:sp>
      <p:sp>
        <p:nvSpPr>
          <p:cNvPr id="168" name="Shape 1"/>
          <p:cNvSpPr/>
          <p:nvPr/>
        </p:nvSpPr>
        <p:spPr>
          <a:xfrm>
            <a:off x="457200" y="841247"/>
            <a:ext cx="8229600" cy="1"/>
          </a:xfrm>
          <a:prstGeom prst="line">
            <a:avLst/>
          </a:prstGeom>
          <a:ln w="1524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71" name="1. Navigability (Small World 구조) 어디서든 적은 hop으로 도달 가능해야 함…"/>
          <p:cNvGrpSpPr/>
          <p:nvPr/>
        </p:nvGrpSpPr>
        <p:grpSpPr>
          <a:xfrm>
            <a:off x="429300" y="1163978"/>
            <a:ext cx="4163104" cy="1615479"/>
            <a:chOff x="0" y="0"/>
            <a:chExt cx="4163102" cy="1615478"/>
          </a:xfrm>
        </p:grpSpPr>
        <p:sp>
          <p:nvSpPr>
            <p:cNvPr id="169" name="Rectangle"/>
            <p:cNvSpPr/>
            <p:nvPr/>
          </p:nvSpPr>
          <p:spPr>
            <a:xfrm>
              <a:off x="-1" y="-1"/>
              <a:ext cx="4163104" cy="161548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defTabSz="457200">
                <a:spcBef>
                  <a:spcPts val="1200"/>
                </a:spcBef>
                <a:defRPr sz="1600"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70" name="1. Navigability (Small World 구조) 어디서든 적은 hop으로 도달 가능해야 함…"/>
            <p:cNvSpPr txBox="1"/>
            <p:nvPr/>
          </p:nvSpPr>
          <p:spPr>
            <a:xfrm>
              <a:off x="6349" y="135949"/>
              <a:ext cx="4150404" cy="13435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defTabSz="457200">
                <a:spcBef>
                  <a:spcPts val="1200"/>
                </a:spcBef>
                <a:defRPr b="1" sz="1600">
                  <a:latin typeface="+mj-lt"/>
                  <a:ea typeface="+mj-ea"/>
                  <a:cs typeface="+mj-cs"/>
                  <a:sym typeface="Calibri"/>
                </a:defRPr>
              </a:pPr>
              <a:r>
                <a:t>1. Navigability (Small World 구조)</a:t>
              </a:r>
              <a:r>
                <a:rPr b="0"/>
                <a:t> 어디서든 적은 hop으로 도달 가능해야 함</a:t>
              </a:r>
            </a:p>
            <a:p>
              <a:pPr defTabSz="457200">
                <a:spcBef>
                  <a:spcPts val="1200"/>
                </a:spcBef>
                <a:defRPr b="1" sz="1600">
                  <a:latin typeface="+mj-lt"/>
                  <a:ea typeface="+mj-ea"/>
                  <a:cs typeface="+mj-cs"/>
                  <a:sym typeface="Calibri"/>
                </a:defRPr>
              </a:pPr>
              <a:r>
                <a:t>2. Accuracy (Delaunay 근사)</a:t>
              </a:r>
              <a:r>
                <a:rPr b="0"/>
                <a:t> 진짜 nearest neighbor와 연결되어 있어야 함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0"/>
          <p:cNvSpPr txBox="1"/>
          <p:nvPr/>
        </p:nvSpPr>
        <p:spPr>
          <a:xfrm>
            <a:off x="457200" y="326259"/>
            <a:ext cx="8229600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Motivation — How  ANN works? </a:t>
            </a:r>
          </a:p>
        </p:txBody>
      </p:sp>
      <p:sp>
        <p:nvSpPr>
          <p:cNvPr id="174" name="Shape 1"/>
          <p:cNvSpPr/>
          <p:nvPr/>
        </p:nvSpPr>
        <p:spPr>
          <a:xfrm>
            <a:off x="457200" y="841247"/>
            <a:ext cx="8229600" cy="1"/>
          </a:xfrm>
          <a:prstGeom prst="line">
            <a:avLst/>
          </a:prstGeom>
          <a:ln w="1524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" name="HNSW graph build…"/>
          <p:cNvSpPr txBox="1"/>
          <p:nvPr/>
        </p:nvSpPr>
        <p:spPr>
          <a:xfrm>
            <a:off x="455688" y="3037271"/>
            <a:ext cx="3963558" cy="1796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2100">
                <a:latin typeface="+mj-lt"/>
                <a:ea typeface="+mj-ea"/>
                <a:cs typeface="+mj-cs"/>
                <a:sym typeface="Calibri"/>
              </a:defRPr>
            </a:pPr>
            <a:r>
              <a:t>HNSW graph build</a:t>
            </a:r>
          </a:p>
          <a:p>
            <a:pPr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1. 데이터를 hierarchical 공간에 고정</a:t>
            </a:r>
          </a:p>
          <a:p>
            <a:pPr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2. 이웃을 연결할 노드를 삽입</a:t>
            </a:r>
          </a:p>
          <a:p>
            <a:pPr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3. 각 삽입마다 후보 탐색 →</a:t>
            </a:r>
            <a:r>
              <a:rPr b="1"/>
              <a:t> heuristic 으로 M개 선택</a:t>
            </a:r>
          </a:p>
          <a:p>
            <a:pPr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4. 방향 다양성 있는 그래프 완성</a:t>
            </a:r>
          </a:p>
          <a:p>
            <a:pPr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5. 이 위에서 greedy search</a:t>
            </a:r>
          </a:p>
        </p:txBody>
      </p:sp>
      <p:pic>
        <p:nvPicPr>
          <p:cNvPr id="17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12256" y="3055462"/>
            <a:ext cx="3949212" cy="2221433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12360" y="544886"/>
            <a:ext cx="3949097" cy="2015684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Line"/>
          <p:cNvSpPr/>
          <p:nvPr/>
        </p:nvSpPr>
        <p:spPr>
          <a:xfrm>
            <a:off x="5083419" y="2808016"/>
            <a:ext cx="4121422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9" name="Line"/>
          <p:cNvSpPr/>
          <p:nvPr/>
        </p:nvSpPr>
        <p:spPr>
          <a:xfrm flipH="1">
            <a:off x="5078664" y="656511"/>
            <a:ext cx="1" cy="4640929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82" name="1. Navigability (Small World 구조) 어디서든 적은 hop으로 도달 가능해야 함…"/>
          <p:cNvGrpSpPr/>
          <p:nvPr/>
        </p:nvGrpSpPr>
        <p:grpSpPr>
          <a:xfrm>
            <a:off x="429300" y="1163978"/>
            <a:ext cx="4163104" cy="1615479"/>
            <a:chOff x="0" y="0"/>
            <a:chExt cx="4163102" cy="1615478"/>
          </a:xfrm>
        </p:grpSpPr>
        <p:sp>
          <p:nvSpPr>
            <p:cNvPr id="180" name="Rectangle"/>
            <p:cNvSpPr/>
            <p:nvPr/>
          </p:nvSpPr>
          <p:spPr>
            <a:xfrm>
              <a:off x="-1" y="-1"/>
              <a:ext cx="4163104" cy="161548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defTabSz="457200">
                <a:spcBef>
                  <a:spcPts val="1200"/>
                </a:spcBef>
                <a:defRPr sz="1600"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81" name="1. Navigability (Small World 구조) 어디서든 적은 hop으로 도달 가능해야 함…"/>
            <p:cNvSpPr txBox="1"/>
            <p:nvPr/>
          </p:nvSpPr>
          <p:spPr>
            <a:xfrm>
              <a:off x="6349" y="135949"/>
              <a:ext cx="4150404" cy="13435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defTabSz="457200">
                <a:spcBef>
                  <a:spcPts val="1200"/>
                </a:spcBef>
                <a:defRPr b="1" sz="1600">
                  <a:latin typeface="+mj-lt"/>
                  <a:ea typeface="+mj-ea"/>
                  <a:cs typeface="+mj-cs"/>
                  <a:sym typeface="Calibri"/>
                </a:defRPr>
              </a:pPr>
              <a:r>
                <a:t>1. Navigability (Small World 구조)</a:t>
              </a:r>
              <a:r>
                <a:rPr b="0"/>
                <a:t> 어디서든 적은 hop으로 도달 가능해야 함</a:t>
              </a:r>
            </a:p>
            <a:p>
              <a:pPr defTabSz="457200">
                <a:spcBef>
                  <a:spcPts val="1200"/>
                </a:spcBef>
                <a:defRPr b="1" sz="1600">
                  <a:latin typeface="+mj-lt"/>
                  <a:ea typeface="+mj-ea"/>
                  <a:cs typeface="+mj-cs"/>
                  <a:sym typeface="Calibri"/>
                </a:defRPr>
              </a:pPr>
              <a:r>
                <a:t>2. Accuracy (Delaunay 근사)</a:t>
              </a:r>
              <a:r>
                <a:rPr b="0"/>
                <a:t> 진짜 nearest neighbor와 연결되어 있어야 함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 txBox="1"/>
          <p:nvPr/>
        </p:nvSpPr>
        <p:spPr>
          <a:xfrm>
            <a:off x="457200" y="326259"/>
            <a:ext cx="8229600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Motivation — How  ANN works? </a:t>
            </a:r>
          </a:p>
        </p:txBody>
      </p:sp>
      <p:sp>
        <p:nvSpPr>
          <p:cNvPr id="185" name="Shape 1"/>
          <p:cNvSpPr/>
          <p:nvPr/>
        </p:nvSpPr>
        <p:spPr>
          <a:xfrm>
            <a:off x="457200" y="841247"/>
            <a:ext cx="8229600" cy="1"/>
          </a:xfrm>
          <a:prstGeom prst="line">
            <a:avLst/>
          </a:prstGeom>
          <a:ln w="1524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6" name="HNSW graph build…"/>
          <p:cNvSpPr txBox="1"/>
          <p:nvPr/>
        </p:nvSpPr>
        <p:spPr>
          <a:xfrm>
            <a:off x="455688" y="3037271"/>
            <a:ext cx="3963558" cy="1796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2100">
                <a:latin typeface="+mj-lt"/>
                <a:ea typeface="+mj-ea"/>
                <a:cs typeface="+mj-cs"/>
                <a:sym typeface="Calibri"/>
              </a:defRPr>
            </a:pPr>
            <a:r>
              <a:t>HNSW graph build</a:t>
            </a:r>
          </a:p>
          <a:p>
            <a:pPr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1. 데이터를 hierarchical 공간에 고정</a:t>
            </a:r>
          </a:p>
          <a:p>
            <a:pPr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2. 이웃을 연결할 노드를 삽입</a:t>
            </a:r>
          </a:p>
          <a:p>
            <a:pPr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3. 각 삽입마다 후보 탐색 →</a:t>
            </a:r>
            <a:r>
              <a:rPr b="1"/>
              <a:t> heuristic 으로 M개 선택</a:t>
            </a:r>
          </a:p>
          <a:p>
            <a:pPr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4. 방향 다양성 있는 그래프 완성</a:t>
            </a:r>
          </a:p>
          <a:p>
            <a:pPr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5. 이 위에서 greedy search</a:t>
            </a:r>
          </a:p>
        </p:txBody>
      </p:sp>
      <p:pic>
        <p:nvPicPr>
          <p:cNvPr id="187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12256" y="3055462"/>
            <a:ext cx="3949212" cy="222143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12360" y="544886"/>
            <a:ext cx="3949097" cy="2015684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Line"/>
          <p:cNvSpPr/>
          <p:nvPr/>
        </p:nvSpPr>
        <p:spPr>
          <a:xfrm>
            <a:off x="5083419" y="2808016"/>
            <a:ext cx="4121422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" name="Line"/>
          <p:cNvSpPr/>
          <p:nvPr/>
        </p:nvSpPr>
        <p:spPr>
          <a:xfrm flipH="1">
            <a:off x="5078664" y="656511"/>
            <a:ext cx="1" cy="4640929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93" name="1. Navigability (Small World 구조) 어디서든 적은 hop으로 도달 가능해야 함…"/>
          <p:cNvGrpSpPr/>
          <p:nvPr/>
        </p:nvGrpSpPr>
        <p:grpSpPr>
          <a:xfrm>
            <a:off x="429300" y="1163978"/>
            <a:ext cx="4163104" cy="1615479"/>
            <a:chOff x="0" y="0"/>
            <a:chExt cx="4163102" cy="1615478"/>
          </a:xfrm>
        </p:grpSpPr>
        <p:sp>
          <p:nvSpPr>
            <p:cNvPr id="191" name="Rectangle"/>
            <p:cNvSpPr/>
            <p:nvPr/>
          </p:nvSpPr>
          <p:spPr>
            <a:xfrm>
              <a:off x="-1" y="-1"/>
              <a:ext cx="4163104" cy="161548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defTabSz="457200">
                <a:spcBef>
                  <a:spcPts val="1200"/>
                </a:spcBef>
                <a:defRPr sz="1600"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92" name="1. Navigability (Small World 구조) 어디서든 적은 hop으로 도달 가능해야 함…"/>
            <p:cNvSpPr txBox="1"/>
            <p:nvPr/>
          </p:nvSpPr>
          <p:spPr>
            <a:xfrm>
              <a:off x="6349" y="135949"/>
              <a:ext cx="4150404" cy="13435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defTabSz="457200">
                <a:spcBef>
                  <a:spcPts val="1200"/>
                </a:spcBef>
                <a:defRPr b="1" sz="1600">
                  <a:latin typeface="+mj-lt"/>
                  <a:ea typeface="+mj-ea"/>
                  <a:cs typeface="+mj-cs"/>
                  <a:sym typeface="Calibri"/>
                </a:defRPr>
              </a:pPr>
              <a:r>
                <a:t>1. Navigability (Small World 구조)</a:t>
              </a:r>
              <a:r>
                <a:rPr b="0"/>
                <a:t> 어디서든 적은 hop으로 도달 가능해야 함</a:t>
              </a:r>
            </a:p>
            <a:p>
              <a:pPr defTabSz="457200">
                <a:spcBef>
                  <a:spcPts val="1200"/>
                </a:spcBef>
                <a:defRPr b="1" sz="1600">
                  <a:latin typeface="+mj-lt"/>
                  <a:ea typeface="+mj-ea"/>
                  <a:cs typeface="+mj-cs"/>
                  <a:sym typeface="Calibri"/>
                </a:defRPr>
              </a:pPr>
              <a:r>
                <a:t>2. Accuracy (Delaunay 근사)</a:t>
              </a:r>
              <a:r>
                <a:rPr b="0"/>
                <a:t> 진짜 nearest neighbor와 연결되어 있어야 함</a:t>
              </a:r>
            </a:p>
          </p:txBody>
        </p:sp>
      </p:grpSp>
      <p:grpSp>
        <p:nvGrpSpPr>
          <p:cNvPr id="196" name="Q와 이미 선택된 이웃 r이 있고, 새 후보 e를 보는데:…"/>
          <p:cNvGrpSpPr/>
          <p:nvPr/>
        </p:nvGrpSpPr>
        <p:grpSpPr>
          <a:xfrm>
            <a:off x="347288" y="949929"/>
            <a:ext cx="4327129" cy="2920606"/>
            <a:chOff x="0" y="0"/>
            <a:chExt cx="4327128" cy="2920604"/>
          </a:xfrm>
        </p:grpSpPr>
        <p:sp>
          <p:nvSpPr>
            <p:cNvPr id="194" name="Shape"/>
            <p:cNvSpPr/>
            <p:nvPr/>
          </p:nvSpPr>
          <p:spPr>
            <a:xfrm>
              <a:off x="0" y="-1"/>
              <a:ext cx="4327129" cy="2920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48" y="0"/>
                  </a:moveTo>
                  <a:cubicBezTo>
                    <a:pt x="200" y="0"/>
                    <a:pt x="0" y="297"/>
                    <a:pt x="0" y="663"/>
                  </a:cubicBezTo>
                  <a:lnTo>
                    <a:pt x="0" y="13728"/>
                  </a:lnTo>
                  <a:cubicBezTo>
                    <a:pt x="0" y="14094"/>
                    <a:pt x="200" y="14391"/>
                    <a:pt x="448" y="14391"/>
                  </a:cubicBezTo>
                  <a:lnTo>
                    <a:pt x="16796" y="14391"/>
                  </a:lnTo>
                  <a:lnTo>
                    <a:pt x="17095" y="21600"/>
                  </a:lnTo>
                  <a:lnTo>
                    <a:pt x="17394" y="14391"/>
                  </a:lnTo>
                  <a:lnTo>
                    <a:pt x="21152" y="14391"/>
                  </a:lnTo>
                  <a:cubicBezTo>
                    <a:pt x="21400" y="14391"/>
                    <a:pt x="21600" y="14094"/>
                    <a:pt x="21600" y="13728"/>
                  </a:cubicBezTo>
                  <a:lnTo>
                    <a:pt x="21600" y="663"/>
                  </a:lnTo>
                  <a:cubicBezTo>
                    <a:pt x="21600" y="297"/>
                    <a:pt x="21400" y="0"/>
                    <a:pt x="21152" y="0"/>
                  </a:cubicBezTo>
                  <a:lnTo>
                    <a:pt x="448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defTabSz="457200">
                <a:defRPr sz="1200"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95" name="Q와 이미 선택된 이웃 r이 있고, 새 후보 e를 보는데:…"/>
            <p:cNvSpPr txBox="1"/>
            <p:nvPr/>
          </p:nvSpPr>
          <p:spPr>
            <a:xfrm>
              <a:off x="6350" y="887880"/>
              <a:ext cx="4314429" cy="11448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defTabSz="457200">
                <a:spcBef>
                  <a:spcPts val="1200"/>
                </a:spcBef>
                <a:defRPr sz="1200">
                  <a:latin typeface="+mj-lt"/>
                  <a:ea typeface="+mj-ea"/>
                  <a:cs typeface="+mj-cs"/>
                  <a:sym typeface="Calibri"/>
                </a:defRPr>
              </a:pPr>
              <a:r>
                <a:t>Q와 이미 선택된 이웃 r이 있고, 새 후보 e를 보는데:</a:t>
              </a:r>
            </a:p>
            <a:p>
              <a:pPr marL="457200" indent="-317500" defTabSz="457200">
                <a:buSzPct val="100000"/>
                <a:buFont typeface="Times Roman"/>
                <a:buChar char="•"/>
                <a:defRPr sz="1200">
                  <a:latin typeface="+mj-lt"/>
                  <a:ea typeface="+mj-ea"/>
                  <a:cs typeface="+mj-cs"/>
                  <a:sym typeface="Calibri"/>
                </a:defRPr>
              </a:pPr>
              <a:r>
                <a:t>e가 r보다 Q에 더 가까우면 → e는 r이 커버 못 하는 독립적인 방향에 있다는 뜻 → </a:t>
              </a:r>
              <a:r>
                <a:rPr b="1"/>
                <a:t>추가</a:t>
              </a:r>
            </a:p>
            <a:p>
              <a:pPr marL="457200" indent="-317500" defTabSz="457200">
                <a:buSzPct val="100000"/>
                <a:buFont typeface="Times Roman"/>
                <a:buChar char="•"/>
                <a:defRPr sz="1200">
                  <a:latin typeface="+mj-lt"/>
                  <a:ea typeface="+mj-ea"/>
                  <a:cs typeface="+mj-cs"/>
                  <a:sym typeface="Calibri"/>
                </a:defRPr>
              </a:pPr>
              <a:r>
                <a:t>e가 r보다 Q에서 멀면 → r이 이미 그 방향을 커버하고 있다는 뜻 → </a:t>
              </a:r>
              <a:r>
                <a:rPr b="1"/>
                <a:t>skip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 0"/>
          <p:cNvSpPr txBox="1"/>
          <p:nvPr/>
        </p:nvSpPr>
        <p:spPr>
          <a:xfrm>
            <a:off x="457200" y="326259"/>
            <a:ext cx="8229600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Motivation — How  ANN works? </a:t>
            </a:r>
          </a:p>
        </p:txBody>
      </p:sp>
      <p:sp>
        <p:nvSpPr>
          <p:cNvPr id="199" name="Shape 1"/>
          <p:cNvSpPr/>
          <p:nvPr/>
        </p:nvSpPr>
        <p:spPr>
          <a:xfrm>
            <a:off x="457200" y="841247"/>
            <a:ext cx="8229600" cy="1"/>
          </a:xfrm>
          <a:prstGeom prst="line">
            <a:avLst/>
          </a:prstGeom>
          <a:ln w="1524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0" name="HNSW graph build…"/>
          <p:cNvSpPr txBox="1"/>
          <p:nvPr/>
        </p:nvSpPr>
        <p:spPr>
          <a:xfrm>
            <a:off x="455688" y="3037271"/>
            <a:ext cx="3963558" cy="1796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2100">
                <a:latin typeface="+mj-lt"/>
                <a:ea typeface="+mj-ea"/>
                <a:cs typeface="+mj-cs"/>
                <a:sym typeface="Calibri"/>
              </a:defRPr>
            </a:pPr>
            <a:r>
              <a:t>HNSW graph build</a:t>
            </a:r>
          </a:p>
          <a:p>
            <a:pPr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1. 데이터를 hierarchical 공간에 고정</a:t>
            </a:r>
          </a:p>
          <a:p>
            <a:pPr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2. 이웃을 연결할 노드를 삽입</a:t>
            </a:r>
          </a:p>
          <a:p>
            <a:pPr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3. 각 삽입마다 후보 탐색 →</a:t>
            </a:r>
            <a:r>
              <a:rPr b="1"/>
              <a:t> heuristic 으로 M개 선택</a:t>
            </a:r>
          </a:p>
          <a:p>
            <a:pPr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4. 방향 다양성 있는 그래프 완성</a:t>
            </a:r>
          </a:p>
          <a:p>
            <a:pPr>
              <a:defRPr sz="1500">
                <a:latin typeface="+mj-lt"/>
                <a:ea typeface="+mj-ea"/>
                <a:cs typeface="+mj-cs"/>
                <a:sym typeface="Calibri"/>
              </a:defRPr>
            </a:pPr>
            <a:r>
              <a:t>5. 이 위에서 greedy search</a:t>
            </a:r>
          </a:p>
        </p:txBody>
      </p:sp>
      <p:pic>
        <p:nvPicPr>
          <p:cNvPr id="20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12256" y="3055462"/>
            <a:ext cx="3949212" cy="222143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12360" y="544886"/>
            <a:ext cx="3949097" cy="2015684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Line"/>
          <p:cNvSpPr/>
          <p:nvPr/>
        </p:nvSpPr>
        <p:spPr>
          <a:xfrm>
            <a:off x="5083419" y="2808016"/>
            <a:ext cx="4121422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4" name="Line"/>
          <p:cNvSpPr/>
          <p:nvPr/>
        </p:nvSpPr>
        <p:spPr>
          <a:xfrm flipH="1">
            <a:off x="5078664" y="656511"/>
            <a:ext cx="1" cy="4640929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07" name="1. Navigability (Small World 구조) 어디서든 적은 hop으로 도달 가능해야 함…"/>
          <p:cNvGrpSpPr/>
          <p:nvPr/>
        </p:nvGrpSpPr>
        <p:grpSpPr>
          <a:xfrm>
            <a:off x="429300" y="1163978"/>
            <a:ext cx="4163104" cy="1615479"/>
            <a:chOff x="0" y="0"/>
            <a:chExt cx="4163102" cy="1615478"/>
          </a:xfrm>
        </p:grpSpPr>
        <p:sp>
          <p:nvSpPr>
            <p:cNvPr id="205" name="Rectangle"/>
            <p:cNvSpPr/>
            <p:nvPr/>
          </p:nvSpPr>
          <p:spPr>
            <a:xfrm>
              <a:off x="-1" y="-1"/>
              <a:ext cx="4163104" cy="161548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defTabSz="457200">
                <a:spcBef>
                  <a:spcPts val="1200"/>
                </a:spcBef>
                <a:defRPr sz="1600"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06" name="1. Navigability (Small World 구조) 어디서든 적은 hop으로 도달 가능해야 함…"/>
            <p:cNvSpPr txBox="1"/>
            <p:nvPr/>
          </p:nvSpPr>
          <p:spPr>
            <a:xfrm>
              <a:off x="6349" y="135949"/>
              <a:ext cx="4150404" cy="13435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defTabSz="457200">
                <a:spcBef>
                  <a:spcPts val="1200"/>
                </a:spcBef>
                <a:defRPr b="1" sz="1600">
                  <a:latin typeface="+mj-lt"/>
                  <a:ea typeface="+mj-ea"/>
                  <a:cs typeface="+mj-cs"/>
                  <a:sym typeface="Calibri"/>
                </a:defRPr>
              </a:pPr>
              <a:r>
                <a:t>1. Navigability (Small World 구조)</a:t>
              </a:r>
              <a:r>
                <a:rPr b="0"/>
                <a:t> 어디서든 적은 hop으로 도달 가능해야 함</a:t>
              </a:r>
            </a:p>
            <a:p>
              <a:pPr defTabSz="457200">
                <a:spcBef>
                  <a:spcPts val="1200"/>
                </a:spcBef>
                <a:defRPr b="1" sz="1600">
                  <a:latin typeface="+mj-lt"/>
                  <a:ea typeface="+mj-ea"/>
                  <a:cs typeface="+mj-cs"/>
                  <a:sym typeface="Calibri"/>
                </a:defRPr>
              </a:pPr>
              <a:r>
                <a:t>2. Accuracy (Delaunay 근사)</a:t>
              </a:r>
              <a:r>
                <a:rPr b="0"/>
                <a:t> 진짜 nearest neighbor와 연결되어 있어야 함</a:t>
              </a:r>
            </a:p>
          </p:txBody>
        </p:sp>
      </p:grpSp>
      <p:grpSp>
        <p:nvGrpSpPr>
          <p:cNvPr id="210" name="그렇다면, 어떤 데이터들로 만들 때 방향 다양성이 생길까?"/>
          <p:cNvGrpSpPr/>
          <p:nvPr/>
        </p:nvGrpSpPr>
        <p:grpSpPr>
          <a:xfrm>
            <a:off x="347288" y="949929"/>
            <a:ext cx="4327129" cy="2920606"/>
            <a:chOff x="0" y="0"/>
            <a:chExt cx="4327128" cy="2920604"/>
          </a:xfrm>
        </p:grpSpPr>
        <p:sp>
          <p:nvSpPr>
            <p:cNvPr id="208" name="Shape"/>
            <p:cNvSpPr/>
            <p:nvPr/>
          </p:nvSpPr>
          <p:spPr>
            <a:xfrm>
              <a:off x="0" y="-1"/>
              <a:ext cx="4327129" cy="2920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48" y="0"/>
                  </a:moveTo>
                  <a:cubicBezTo>
                    <a:pt x="200" y="0"/>
                    <a:pt x="0" y="297"/>
                    <a:pt x="0" y="663"/>
                  </a:cubicBezTo>
                  <a:lnTo>
                    <a:pt x="0" y="13728"/>
                  </a:lnTo>
                  <a:cubicBezTo>
                    <a:pt x="0" y="14094"/>
                    <a:pt x="200" y="14391"/>
                    <a:pt x="448" y="14391"/>
                  </a:cubicBezTo>
                  <a:lnTo>
                    <a:pt x="16796" y="14391"/>
                  </a:lnTo>
                  <a:lnTo>
                    <a:pt x="17095" y="21600"/>
                  </a:lnTo>
                  <a:lnTo>
                    <a:pt x="17394" y="14391"/>
                  </a:lnTo>
                  <a:lnTo>
                    <a:pt x="21152" y="14391"/>
                  </a:lnTo>
                  <a:cubicBezTo>
                    <a:pt x="21400" y="14391"/>
                    <a:pt x="21600" y="14094"/>
                    <a:pt x="21600" y="13728"/>
                  </a:cubicBezTo>
                  <a:lnTo>
                    <a:pt x="21600" y="663"/>
                  </a:lnTo>
                  <a:cubicBezTo>
                    <a:pt x="21600" y="297"/>
                    <a:pt x="21400" y="0"/>
                    <a:pt x="21152" y="0"/>
                  </a:cubicBezTo>
                  <a:lnTo>
                    <a:pt x="448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457200">
                <a:spcBef>
                  <a:spcPts val="1200"/>
                </a:spcBef>
                <a:defRPr b="1" sz="1200"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09" name="그렇다면, 어떤 데이터들로 만들 때 방향 다양성이 생길까?"/>
            <p:cNvSpPr txBox="1"/>
            <p:nvPr/>
          </p:nvSpPr>
          <p:spPr>
            <a:xfrm>
              <a:off x="6350" y="1319333"/>
              <a:ext cx="4314429" cy="2819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 defTabSz="457200">
                <a:spcBef>
                  <a:spcPts val="1200"/>
                </a:spcBef>
                <a:defRPr b="1" sz="1200"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 그렇다면, 어떤 데이터들로 만들 때 방향 다양성이 생길까? 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 0"/>
          <p:cNvSpPr txBox="1"/>
          <p:nvPr/>
        </p:nvSpPr>
        <p:spPr>
          <a:xfrm>
            <a:off x="457200" y="326259"/>
            <a:ext cx="8229600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Problem — How  ANN works? </a:t>
            </a:r>
          </a:p>
        </p:txBody>
      </p:sp>
      <p:sp>
        <p:nvSpPr>
          <p:cNvPr id="213" name="Shape 1"/>
          <p:cNvSpPr/>
          <p:nvPr/>
        </p:nvSpPr>
        <p:spPr>
          <a:xfrm>
            <a:off x="457200" y="841247"/>
            <a:ext cx="8229600" cy="1"/>
          </a:xfrm>
          <a:prstGeom prst="line">
            <a:avLst/>
          </a:prstGeom>
          <a:ln w="1524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14" name="Screenshot 2026-04-09 at 3.05.32 AM.png" descr="Screenshot 2026-04-09 at 3.05.32 AM.png"/>
          <p:cNvPicPr>
            <a:picLocks noChangeAspect="1"/>
          </p:cNvPicPr>
          <p:nvPr/>
        </p:nvPicPr>
        <p:blipFill>
          <a:blip r:embed="rId2">
            <a:extLst/>
          </a:blip>
          <a:srcRect l="0" t="7948" r="0" b="0"/>
          <a:stretch>
            <a:fillRect/>
          </a:stretch>
        </p:blipFill>
        <p:spPr>
          <a:xfrm>
            <a:off x="412222" y="1102288"/>
            <a:ext cx="4199444" cy="1124550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HNSW 의 Search Recall 은 벡터 공간의 intrinsic dimensionality (ID) 와 연결되어 있다.…"/>
          <p:cNvSpPr txBox="1"/>
          <p:nvPr/>
        </p:nvSpPr>
        <p:spPr>
          <a:xfrm>
            <a:off x="1553205" y="2480454"/>
            <a:ext cx="6277513" cy="1122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marL="160420" indent="-160420" defTabSz="457200">
              <a:spcBef>
                <a:spcPts val="1200"/>
              </a:spcBef>
              <a:buSzPct val="100000"/>
              <a:buAutoNum type="arabicPeriod" startAt="1"/>
              <a:defRPr sz="1400">
                <a:latin typeface="+mj-lt"/>
                <a:ea typeface="+mj-ea"/>
                <a:cs typeface="+mj-cs"/>
                <a:sym typeface="Calibri"/>
              </a:defRPr>
            </a:pPr>
            <a:r>
              <a:t>HNSW 의 Search Recall 은 벡터 공간의 intrinsic dimensionality (ID) 와 연결되어 있다.</a:t>
            </a:r>
          </a:p>
          <a:p>
            <a:pPr marL="160420" indent="-160420" defTabSz="457200">
              <a:spcBef>
                <a:spcPts val="1200"/>
              </a:spcBef>
              <a:buSzPct val="100000"/>
              <a:buAutoNum type="arabicPeriod" startAt="1"/>
              <a:defRPr sz="1400">
                <a:latin typeface="+mj-lt"/>
                <a:ea typeface="+mj-ea"/>
                <a:cs typeface="+mj-cs"/>
                <a:sym typeface="Calibri"/>
              </a:defRPr>
            </a:pPr>
            <a:r>
              <a:t>구체적으로,  data 의 ID 가 full rank 에 가까워질수룩 recall 이 약 50% 하락했다.</a:t>
            </a:r>
          </a:p>
          <a:p>
            <a:pPr marL="160420" indent="-160420" defTabSz="457200">
              <a:spcBef>
                <a:spcPts val="1200"/>
              </a:spcBef>
              <a:buSzPct val="100000"/>
              <a:buAutoNum type="arabicPeriod" startAt="1"/>
              <a:defRPr sz="1400">
                <a:latin typeface="+mj-lt"/>
                <a:ea typeface="+mj-ea"/>
                <a:cs typeface="+mj-cs"/>
                <a:sym typeface="Calibri"/>
              </a:defRPr>
            </a:pPr>
            <a:r>
              <a:t>Constative Loss 에서 학습된 모델들은 ID 와 같은 속성들을 명시적으로 제어하지 않는다.</a:t>
            </a:r>
          </a:p>
        </p:txBody>
      </p:sp>
      <p:sp>
        <p:nvSpPr>
          <p:cNvPr id="216" name="Low ID = High Recall"/>
          <p:cNvSpPr txBox="1"/>
          <p:nvPr/>
        </p:nvSpPr>
        <p:spPr>
          <a:xfrm>
            <a:off x="3176879" y="4189036"/>
            <a:ext cx="2606101" cy="3825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3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Low ID = High Recall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 0"/>
          <p:cNvSpPr txBox="1"/>
          <p:nvPr/>
        </p:nvSpPr>
        <p:spPr>
          <a:xfrm>
            <a:off x="457200" y="326259"/>
            <a:ext cx="8229600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Problem — Does FEN control ID? </a:t>
            </a:r>
          </a:p>
        </p:txBody>
      </p:sp>
      <p:sp>
        <p:nvSpPr>
          <p:cNvPr id="219" name="Shape 1"/>
          <p:cNvSpPr/>
          <p:nvPr/>
        </p:nvSpPr>
        <p:spPr>
          <a:xfrm>
            <a:off x="457200" y="841247"/>
            <a:ext cx="8229600" cy="1"/>
          </a:xfrm>
          <a:prstGeom prst="line">
            <a:avLst/>
          </a:prstGeom>
          <a:ln w="1524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20" name="Screenshot 2026-04-09 at 3.10.41 AM.png" descr="Screenshot 2026-04-09 at 3.10.41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2951" y="1115918"/>
            <a:ext cx="2649134" cy="1388867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DeepCoFFEA 는 Triplet Loss 로 임베딩 공간을 학습시킴.…"/>
          <p:cNvSpPr txBox="1"/>
          <p:nvPr/>
        </p:nvSpPr>
        <p:spPr>
          <a:xfrm>
            <a:off x="3446703" y="1565758"/>
            <a:ext cx="5065165" cy="675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DeepCoFFEA 는 Triplet Loss 로 임베딩 공간을 학습시킴.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그러나, Triplet loss 는 ID 를 명시적으로 제어하지 않음.</a:t>
            </a:r>
          </a:p>
        </p:txBody>
      </p:sp>
      <p:sp>
        <p:nvSpPr>
          <p:cNvPr id="222" name="대규모 트래픽을 빠르게 match 해야하는 상황에서 ANN Search 를 쓰는 것은 불가피함.…"/>
          <p:cNvSpPr txBox="1"/>
          <p:nvPr/>
        </p:nvSpPr>
        <p:spPr>
          <a:xfrm>
            <a:off x="722688" y="3297122"/>
            <a:ext cx="7698620" cy="1284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대규모 트래픽을 빠르게 match 해야하는 상황에서 ANN Search 를 쓰는 것은 불가피함.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그리고, ANN Search Recall 을 높이려면 그 데이터는 ID 가 낮아야함.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그런데, 현재 DCF’s FEN 의 Tripet Loss 는 이 ID 를 직접 제어하지 않음. 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 0"/>
          <p:cNvSpPr txBox="1"/>
          <p:nvPr/>
        </p:nvSpPr>
        <p:spPr>
          <a:xfrm>
            <a:off x="457200" y="326259"/>
            <a:ext cx="8229600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Hypothesis — ANN-aware deep metric learning</a:t>
            </a:r>
          </a:p>
        </p:txBody>
      </p:sp>
      <p:sp>
        <p:nvSpPr>
          <p:cNvPr id="225" name="Shape 1"/>
          <p:cNvSpPr/>
          <p:nvPr/>
        </p:nvSpPr>
        <p:spPr>
          <a:xfrm>
            <a:off x="457200" y="841247"/>
            <a:ext cx="8229600" cy="1"/>
          </a:xfrm>
          <a:prstGeom prst="line">
            <a:avLst/>
          </a:prstGeom>
          <a:ln w="1524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6" name="문제: 현재 DCF’s FEN 의 Tripet Loss 는 이 ID 를 직접 제어하지 않음.…"/>
          <p:cNvSpPr txBox="1"/>
          <p:nvPr/>
        </p:nvSpPr>
        <p:spPr>
          <a:xfrm>
            <a:off x="604982" y="1428258"/>
            <a:ext cx="7934036" cy="2810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000">
                <a:latin typeface="+mj-lt"/>
                <a:ea typeface="+mj-ea"/>
                <a:cs typeface="+mj-cs"/>
                <a:sym typeface="Calibri"/>
              </a:defRPr>
            </a:pPr>
            <a:r>
              <a:t>문제: 현재 DCF’s FEN 의 Tripet Loss 는 이 ID 를 직접 제어하지 않음. </a:t>
            </a:r>
          </a:p>
          <a:p>
            <a:pPr>
              <a:defRPr sz="2000">
                <a:latin typeface="+mj-lt"/>
                <a:ea typeface="+mj-ea"/>
                <a:cs typeface="+mj-cs"/>
                <a:sym typeface="Calibri"/>
              </a:defRPr>
            </a:pPr>
            <a:r>
              <a:t>그런데 ID 는 ANN recall 에 영향을 미친다. </a:t>
            </a:r>
          </a:p>
          <a:p>
            <a:pPr>
              <a:defRPr sz="2000"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 sz="2000">
                <a:latin typeface="+mj-lt"/>
                <a:ea typeface="+mj-ea"/>
                <a:cs typeface="+mj-cs"/>
                <a:sym typeface="Calibri"/>
              </a:defRPr>
            </a:pPr>
            <a:r>
              <a:t>가설: ANN-aware deep metric learning 을 하면, 즉, 임베딩 공간을 학습할 때 ID 를 낮추도록 하는 metric learning loss 를 설계하면  ANN Search 의 Recall 을 올릴 수 있을 것이다</a:t>
            </a:r>
          </a:p>
          <a:p>
            <a:pPr>
              <a:defRPr sz="2000"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 sz="2000">
                <a:latin typeface="+mj-lt"/>
                <a:ea typeface="+mj-ea"/>
                <a:cs typeface="+mj-cs"/>
                <a:sym typeface="Calibri"/>
              </a:defRPr>
            </a:pPr>
            <a:r>
              <a:t>즉, 더 robust 한 공격.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